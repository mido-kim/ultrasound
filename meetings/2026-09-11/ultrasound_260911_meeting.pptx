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18DD3C-D4CC-49C1-8725-6328B6FA7FBD}">
  <a:tblStyle styleId="{0918DD3C-D4CC-49C1-8725-6328B6FA7F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5FED38F-8518-4841-B3B1-4FA8E44B657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206fddc3_4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b206fddc3_4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b206fddc3_4_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b206fddc3_4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b206fddc3_4_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b206fddc3_4_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a6e27a32b_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fa6e27a32b_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a6e27a32b_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409c8bfb638_14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409c8bfb638_147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409c8bfb638_147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a6e27a32b_8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fa6e27a32b_8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fa6e27a32b_8_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b206fddc3_8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fb206fddc3_8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b206fddc3_8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a13dc09c2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fa13dc09c2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a13dc09c2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b206fddc3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fb206fddc3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b206fddc3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8b940c6bdf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8b940c6bdf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6 dB:</a:t>
            </a:r>
            <a:r>
              <a:rPr lang="en">
                <a:solidFill>
                  <a:schemeClr val="dk1"/>
                </a:solidFill>
              </a:rPr>
              <a:t> 구분은 가능하지만 불안정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10 dB 이상:</a:t>
            </a:r>
            <a:r>
              <a:rPr lang="en">
                <a:solidFill>
                  <a:schemeClr val="dk1"/>
                </a:solidFill>
              </a:rPr>
              <a:t> 비교적 명확한 검출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20 dB 이상:</a:t>
            </a:r>
            <a:r>
              <a:rPr lang="en">
                <a:solidFill>
                  <a:schemeClr val="dk1"/>
                </a:solidFill>
              </a:rPr>
              <a:t> 상당히 안정적인 echo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8b940c6bdf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a555d716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fa555d716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fa555d716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409c8bfb638_78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409c8bfb638_78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409c8bfb638_78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a42221700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fa42221700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a42221700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a42221700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fa42221700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fa42221700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a42221700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fa42221700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fa42221700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409c8bfb638_78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409c8bfb638_78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409c8bfb638_78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9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9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1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1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2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2" y="1260873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2" y="1878807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2" y="1260873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2" y="1878807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2" y="342900"/>
            <a:ext cx="294917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70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2" y="342900"/>
            <a:ext cx="294917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70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50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  <a:defRPr b="0" i="0" sz="3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6.png"/><Relationship Id="rId6" Type="http://schemas.openxmlformats.org/officeDocument/2006/relationships/image" Target="../media/image12.png"/><Relationship Id="rId7" Type="http://schemas.openxmlformats.org/officeDocument/2006/relationships/image" Target="../media/image2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10" Type="http://schemas.openxmlformats.org/officeDocument/2006/relationships/image" Target="../media/image18.png"/><Relationship Id="rId9" Type="http://schemas.openxmlformats.org/officeDocument/2006/relationships/image" Target="../media/image39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57.png"/><Relationship Id="rId8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11" Type="http://schemas.openxmlformats.org/officeDocument/2006/relationships/image" Target="../media/image21.png"/><Relationship Id="rId10" Type="http://schemas.openxmlformats.org/officeDocument/2006/relationships/image" Target="../media/image31.png"/><Relationship Id="rId12" Type="http://schemas.openxmlformats.org/officeDocument/2006/relationships/image" Target="../media/image23.png"/><Relationship Id="rId9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jpg"/><Relationship Id="rId4" Type="http://schemas.openxmlformats.org/officeDocument/2006/relationships/image" Target="../media/image59.jpg"/><Relationship Id="rId10" Type="http://schemas.openxmlformats.org/officeDocument/2006/relationships/image" Target="../media/image42.png"/><Relationship Id="rId9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38.png"/><Relationship Id="rId10" Type="http://schemas.openxmlformats.org/officeDocument/2006/relationships/image" Target="../media/image32.png"/><Relationship Id="rId9" Type="http://schemas.openxmlformats.org/officeDocument/2006/relationships/image" Target="../media/image44.png"/><Relationship Id="rId5" Type="http://schemas.openxmlformats.org/officeDocument/2006/relationships/image" Target="../media/image41.png"/><Relationship Id="rId6" Type="http://schemas.openxmlformats.org/officeDocument/2006/relationships/image" Target="../media/image52.jpg"/><Relationship Id="rId7" Type="http://schemas.openxmlformats.org/officeDocument/2006/relationships/image" Target="../media/image58.jpg"/><Relationship Id="rId8" Type="http://schemas.openxmlformats.org/officeDocument/2006/relationships/image" Target="../media/image5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55.png"/><Relationship Id="rId5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Relationship Id="rId4" Type="http://schemas.openxmlformats.org/officeDocument/2006/relationships/image" Target="../media/image48.png"/><Relationship Id="rId5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25"/>
          <p:cNvGrpSpPr/>
          <p:nvPr/>
        </p:nvGrpSpPr>
        <p:grpSpPr>
          <a:xfrm>
            <a:off x="656295" y="790571"/>
            <a:ext cx="6659336" cy="1522861"/>
            <a:chOff x="1001486" y="313375"/>
            <a:chExt cx="8879114" cy="2741294"/>
          </a:xfrm>
        </p:grpSpPr>
        <p:sp>
          <p:nvSpPr>
            <p:cNvPr id="131" name="Google Shape;131;p25"/>
            <p:cNvSpPr txBox="1"/>
            <p:nvPr/>
          </p:nvSpPr>
          <p:spPr>
            <a:xfrm>
              <a:off x="1118340" y="1288311"/>
              <a:ext cx="8762260" cy="1354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700"/>
                <a:buFont typeface="Arial"/>
                <a:buNone/>
              </a:pPr>
              <a:r>
                <a:rPr lang="en" sz="2700">
                  <a:solidFill>
                    <a:srgbClr val="0E5EAD"/>
                  </a:solidFill>
                </a:rPr>
                <a:t>Wearable Ultrasound</a:t>
              </a:r>
              <a:endParaRPr sz="2700">
                <a:solidFill>
                  <a:srgbClr val="0E5EAD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700"/>
                <a:buFont typeface="Arial"/>
                <a:buNone/>
              </a:pPr>
              <a:r>
                <a:rPr lang="en" sz="2700">
                  <a:solidFill>
                    <a:srgbClr val="0E5EAD"/>
                  </a:solidFill>
                </a:rPr>
                <a:t>진행 사항</a:t>
              </a:r>
              <a:endParaRPr sz="2700">
                <a:solidFill>
                  <a:srgbClr val="0E5EAD"/>
                </a:solidFill>
              </a:endParaRPr>
            </a:p>
          </p:txBody>
        </p:sp>
        <p:sp>
          <p:nvSpPr>
            <p:cNvPr id="132" name="Google Shape;132;p25"/>
            <p:cNvSpPr/>
            <p:nvPr/>
          </p:nvSpPr>
          <p:spPr>
            <a:xfrm>
              <a:off x="1001486" y="763398"/>
              <a:ext cx="116854" cy="2291271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E735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5"/>
            <p:cNvSpPr txBox="1"/>
            <p:nvPr/>
          </p:nvSpPr>
          <p:spPr>
            <a:xfrm>
              <a:off x="1118340" y="350258"/>
              <a:ext cx="8762260" cy="301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5"/>
            <p:cNvSpPr/>
            <p:nvPr/>
          </p:nvSpPr>
          <p:spPr>
            <a:xfrm>
              <a:off x="1001486" y="313375"/>
              <a:ext cx="116854" cy="450023"/>
            </a:xfrm>
            <a:prstGeom prst="rect">
              <a:avLst/>
            </a:prstGeom>
            <a:solidFill>
              <a:srgbClr val="0E5EAD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E735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5"/>
          <p:cNvSpPr/>
          <p:nvPr/>
        </p:nvSpPr>
        <p:spPr>
          <a:xfrm>
            <a:off x="5803085" y="0"/>
            <a:ext cx="3340916" cy="9684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743936" y="3785951"/>
            <a:ext cx="6571695" cy="6339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/>
              <a:t>김미도, 최정인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3656" y="1223805"/>
            <a:ext cx="2713198" cy="148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/>
          <p:nvPr/>
        </p:nvSpPr>
        <p:spPr>
          <a:xfrm>
            <a:off x="6111689" y="1011775"/>
            <a:ext cx="2745900" cy="3812700"/>
          </a:xfrm>
          <a:prstGeom prst="rect">
            <a:avLst/>
          </a:prstGeom>
          <a:noFill/>
          <a:ln cap="flat" cmpd="sng" w="28575">
            <a:solidFill>
              <a:srgbClr val="D8E2F3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3197254" y="1011775"/>
            <a:ext cx="2745900" cy="3812700"/>
          </a:xfrm>
          <a:prstGeom prst="rect">
            <a:avLst/>
          </a:prstGeom>
          <a:noFill/>
          <a:ln cap="flat" cmpd="sng" w="28575">
            <a:solidFill>
              <a:srgbClr val="D8E2F3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286304" y="1011775"/>
            <a:ext cx="2745900" cy="3812700"/>
          </a:xfrm>
          <a:prstGeom prst="rect">
            <a:avLst/>
          </a:prstGeom>
          <a:noFill/>
          <a:ln cap="flat" cmpd="sng" w="28575">
            <a:solidFill>
              <a:srgbClr val="D8E2F3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6" name="Google Shape;146;p26"/>
          <p:cNvGrpSpPr/>
          <p:nvPr/>
        </p:nvGrpSpPr>
        <p:grpSpPr>
          <a:xfrm>
            <a:off x="134634" y="-2990"/>
            <a:ext cx="6723367" cy="635659"/>
            <a:chOff x="179512" y="-3986"/>
            <a:chExt cx="8964488" cy="847544"/>
          </a:xfrm>
        </p:grpSpPr>
        <p:sp>
          <p:nvSpPr>
            <p:cNvPr id="147" name="Google Shape;147;p26"/>
            <p:cNvSpPr txBox="1"/>
            <p:nvPr/>
          </p:nvSpPr>
          <p:spPr>
            <a:xfrm>
              <a:off x="381740" y="0"/>
              <a:ext cx="8762260" cy="542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179512" y="-3986"/>
              <a:ext cx="202228" cy="847544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9" name="Google Shape;149;p26"/>
            <p:cNvSpPr txBox="1"/>
            <p:nvPr/>
          </p:nvSpPr>
          <p:spPr>
            <a:xfrm>
              <a:off x="381739" y="542192"/>
              <a:ext cx="5817403" cy="301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p26"/>
          <p:cNvSpPr txBox="1"/>
          <p:nvPr/>
        </p:nvSpPr>
        <p:spPr>
          <a:xfrm>
            <a:off x="286304" y="360236"/>
            <a:ext cx="5928759" cy="307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진행 사항</a:t>
            </a:r>
            <a:endParaRPr sz="1100"/>
          </a:p>
        </p:txBody>
      </p:sp>
      <p:sp>
        <p:nvSpPr>
          <p:cNvPr id="151" name="Google Shape;151;p26"/>
          <p:cNvSpPr txBox="1"/>
          <p:nvPr/>
        </p:nvSpPr>
        <p:spPr>
          <a:xfrm>
            <a:off x="477590" y="3270932"/>
            <a:ext cx="206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자</a:t>
            </a: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 1 MHz @ 수조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470433" y="2712487"/>
            <a:ext cx="206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상용 1 MHz @ 수조</a:t>
            </a:r>
            <a:endParaRPr sz="1100"/>
          </a:p>
        </p:txBody>
      </p:sp>
      <p:sp>
        <p:nvSpPr>
          <p:cNvPr id="153" name="Google Shape;153;p26"/>
          <p:cNvSpPr/>
          <p:nvPr/>
        </p:nvSpPr>
        <p:spPr>
          <a:xfrm>
            <a:off x="661203" y="917275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Transducer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3572153" y="917275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Circuitry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6486586" y="917275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Signal </a:t>
            </a:r>
            <a:r>
              <a:rPr lang="en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6"/>
          <p:cNvPicPr preferRelativeResize="0"/>
          <p:nvPr/>
        </p:nvPicPr>
        <p:blipFill rotWithShape="1">
          <a:blip r:embed="rId4">
            <a:alphaModFix/>
          </a:blip>
          <a:srcRect b="47153" l="0" r="0" t="0"/>
          <a:stretch/>
        </p:blipFill>
        <p:spPr>
          <a:xfrm>
            <a:off x="598558" y="1322089"/>
            <a:ext cx="2121498" cy="118937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/>
        </p:nvSpPr>
        <p:spPr>
          <a:xfrm>
            <a:off x="308095" y="2503694"/>
            <a:ext cx="268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Wang et al. Nat. Biomed. Eng. 2018</a:t>
            </a:r>
            <a:endParaRPr i="1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418497" y="2869496"/>
            <a:ext cx="129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600"/>
              <a:buFont typeface="Arial"/>
              <a:buChar char="•"/>
            </a:pPr>
            <a:r>
              <a:rPr lang="en" sz="600">
                <a:solidFill>
                  <a:srgbClr val="7B7B7B"/>
                </a:solidFill>
                <a:latin typeface="Arial"/>
                <a:ea typeface="Arial"/>
                <a:cs typeface="Arial"/>
                <a:sym typeface="Arial"/>
              </a:rPr>
              <a:t>펄스 발생, 에코 수신 확인</a:t>
            </a:r>
            <a:endParaRPr sz="600">
              <a:solidFill>
                <a:srgbClr val="7B7B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600"/>
              <a:buFont typeface="Arial"/>
              <a:buChar char="•"/>
            </a:pPr>
            <a:r>
              <a:rPr lang="en" sz="600">
                <a:solidFill>
                  <a:srgbClr val="7B7B7B"/>
                </a:solidFill>
                <a:latin typeface="Arial"/>
                <a:ea typeface="Arial"/>
                <a:cs typeface="Arial"/>
                <a:sym typeface="Arial"/>
              </a:rPr>
              <a:t>에코 도착 시간으로부터 거리 계산</a:t>
            </a:r>
            <a:endParaRPr sz="600">
              <a:solidFill>
                <a:srgbClr val="7B7B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3365507" y="2726844"/>
            <a:ext cx="2412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1" lang="en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</a:t>
            </a:r>
            <a:r>
              <a:rPr b="0" i="1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et al. Nat. B</a:t>
            </a:r>
            <a:r>
              <a:rPr i="1" lang="en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iotech</a:t>
            </a:r>
            <a:r>
              <a:rPr b="0" i="1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20</a:t>
            </a:r>
            <a:r>
              <a:rPr i="1" lang="en" sz="600"/>
              <a:t>23</a:t>
            </a:r>
            <a:endParaRPr b="0" i="1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6"/>
          <p:cNvSpPr/>
          <p:nvPr/>
        </p:nvSpPr>
        <p:spPr>
          <a:xfrm rot="10800000">
            <a:off x="898598" y="3149572"/>
            <a:ext cx="285600" cy="120300"/>
          </a:xfrm>
          <a:prstGeom prst="upArrow">
            <a:avLst>
              <a:gd fmla="val 50000" name="adj1"/>
              <a:gd fmla="val 58910" name="adj2"/>
            </a:avLst>
          </a:prstGeom>
          <a:gradFill>
            <a:gsLst>
              <a:gs pos="0">
                <a:srgbClr val="C9C9C9">
                  <a:alpha val="3137"/>
                </a:srgbClr>
              </a:gs>
              <a:gs pos="100000">
                <a:srgbClr val="C9C9C9"/>
              </a:gs>
            </a:gsLst>
            <a:lin ang="16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418497" y="3428439"/>
            <a:ext cx="1708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600"/>
              <a:buFont typeface="Arial"/>
              <a:buChar char="•"/>
            </a:pPr>
            <a:r>
              <a:rPr lang="en" sz="600">
                <a:solidFill>
                  <a:srgbClr val="7B7B7B"/>
                </a:solidFill>
                <a:latin typeface="Arial"/>
                <a:ea typeface="Arial"/>
                <a:cs typeface="Arial"/>
                <a:sym typeface="Arial"/>
              </a:rPr>
              <a:t>Bare element의 펄스 에코 확인, 상용과 비교</a:t>
            </a:r>
            <a:endParaRPr sz="600">
              <a:solidFill>
                <a:srgbClr val="7B7B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600"/>
              <a:buFont typeface="Arial"/>
              <a:buChar char="•"/>
            </a:pPr>
            <a:r>
              <a:rPr lang="en" sz="600">
                <a:solidFill>
                  <a:srgbClr val="7B7B7B"/>
                </a:solidFill>
                <a:latin typeface="Arial"/>
                <a:ea typeface="Arial"/>
                <a:cs typeface="Arial"/>
                <a:sym typeface="Arial"/>
              </a:rPr>
              <a:t>Cu/PI 접착 후 펄스 에코 확인</a:t>
            </a:r>
            <a:endParaRPr sz="600">
              <a:solidFill>
                <a:srgbClr val="7B7B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600"/>
              <a:buFont typeface="Arial"/>
              <a:buChar char="•"/>
            </a:pPr>
            <a:r>
              <a:rPr lang="en" sz="600">
                <a:solidFill>
                  <a:srgbClr val="7B7B7B"/>
                </a:solidFill>
                <a:latin typeface="Arial"/>
                <a:ea typeface="Arial"/>
                <a:cs typeface="Arial"/>
                <a:sym typeface="Arial"/>
              </a:rPr>
              <a:t>엘라스토머 인캡 후 펄스 에코 확인 </a:t>
            </a:r>
            <a:endParaRPr sz="600">
              <a:solidFill>
                <a:srgbClr val="7B7B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6"/>
          <p:cNvSpPr/>
          <p:nvPr/>
        </p:nvSpPr>
        <p:spPr>
          <a:xfrm rot="10800000">
            <a:off x="898598" y="4313677"/>
            <a:ext cx="285600" cy="120300"/>
          </a:xfrm>
          <a:prstGeom prst="upArrow">
            <a:avLst>
              <a:gd fmla="val 50000" name="adj1"/>
              <a:gd fmla="val 58910" name="adj2"/>
            </a:avLst>
          </a:prstGeom>
          <a:gradFill>
            <a:gsLst>
              <a:gs pos="0">
                <a:srgbClr val="C9C9C9">
                  <a:alpha val="3137"/>
                </a:srgbClr>
              </a:gs>
              <a:gs pos="100000">
                <a:srgbClr val="C9C9C9"/>
              </a:gs>
            </a:gsLst>
            <a:lin ang="16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471035" y="3876864"/>
            <a:ext cx="206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자</a:t>
            </a: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작 1 MHz @ 티슈</a:t>
            </a:r>
            <a:endParaRPr sz="1100"/>
          </a:p>
        </p:txBody>
      </p:sp>
      <p:sp>
        <p:nvSpPr>
          <p:cNvPr id="164" name="Google Shape;164;p26"/>
          <p:cNvSpPr/>
          <p:nvPr/>
        </p:nvSpPr>
        <p:spPr>
          <a:xfrm rot="10800000">
            <a:off x="902848" y="3764647"/>
            <a:ext cx="285600" cy="120300"/>
          </a:xfrm>
          <a:prstGeom prst="upArrow">
            <a:avLst>
              <a:gd fmla="val 50000" name="adj1"/>
              <a:gd fmla="val 58910" name="adj2"/>
            </a:avLst>
          </a:prstGeom>
          <a:gradFill>
            <a:gsLst>
              <a:gs pos="0">
                <a:srgbClr val="C9C9C9">
                  <a:alpha val="3137"/>
                </a:srgbClr>
              </a:gs>
              <a:gs pos="100000">
                <a:srgbClr val="C9C9C9"/>
              </a:gs>
            </a:gsLst>
            <a:lin ang="16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418497" y="4027853"/>
            <a:ext cx="170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600"/>
              <a:buFont typeface="Arial"/>
              <a:buChar char="•"/>
            </a:pPr>
            <a:r>
              <a:rPr lang="en" sz="600">
                <a:solidFill>
                  <a:srgbClr val="7B7B7B"/>
                </a:solidFill>
                <a:latin typeface="Arial"/>
                <a:ea typeface="Arial"/>
                <a:cs typeface="Arial"/>
                <a:sym typeface="Arial"/>
              </a:rPr>
              <a:t>어떤 조직 관찰 가능한지 서치 필요</a:t>
            </a:r>
            <a:endParaRPr sz="600">
              <a:solidFill>
                <a:srgbClr val="7B7B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600"/>
              <a:buFont typeface="Arial"/>
              <a:buChar char="•"/>
            </a:pPr>
            <a:r>
              <a:rPr lang="en" sz="600">
                <a:solidFill>
                  <a:srgbClr val="7B7B7B"/>
                </a:solidFill>
                <a:latin typeface="Arial"/>
                <a:ea typeface="Arial"/>
                <a:cs typeface="Arial"/>
                <a:sym typeface="Arial"/>
              </a:rPr>
              <a:t>팬텀 티슈 제작</a:t>
            </a:r>
            <a:endParaRPr sz="600">
              <a:solidFill>
                <a:srgbClr val="7B7B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477590" y="4432867"/>
            <a:ext cx="1548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제작 3, 5, 7 MHz @ 티슈</a:t>
            </a:r>
            <a:endParaRPr sz="1100"/>
          </a:p>
        </p:txBody>
      </p:sp>
      <p:sp>
        <p:nvSpPr>
          <p:cNvPr id="167" name="Google Shape;167;p26"/>
          <p:cNvSpPr/>
          <p:nvPr/>
        </p:nvSpPr>
        <p:spPr>
          <a:xfrm rot="5400000">
            <a:off x="1690137" y="4204723"/>
            <a:ext cx="285900" cy="120300"/>
          </a:xfrm>
          <a:prstGeom prst="upArrow">
            <a:avLst>
              <a:gd fmla="val 50000" name="adj1"/>
              <a:gd fmla="val 58910" name="adj2"/>
            </a:avLst>
          </a:prstGeom>
          <a:gradFill>
            <a:gsLst>
              <a:gs pos="0">
                <a:srgbClr val="C9C9C9">
                  <a:alpha val="3137"/>
                </a:srgbClr>
              </a:gs>
              <a:gs pos="100000">
                <a:srgbClr val="C9C9C9"/>
              </a:gs>
            </a:gsLst>
            <a:lin ang="16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8" name="Google Shape;168;p26"/>
          <p:cNvGrpSpPr/>
          <p:nvPr/>
        </p:nvGrpSpPr>
        <p:grpSpPr>
          <a:xfrm>
            <a:off x="386971" y="2760703"/>
            <a:ext cx="110623" cy="91917"/>
            <a:chOff x="2537594" y="5402780"/>
            <a:chExt cx="147144" cy="142728"/>
          </a:xfrm>
        </p:grpSpPr>
        <p:sp>
          <p:nvSpPr>
            <p:cNvPr id="169" name="Google Shape;169;p26"/>
            <p:cNvSpPr/>
            <p:nvPr/>
          </p:nvSpPr>
          <p:spPr>
            <a:xfrm>
              <a:off x="2537594" y="5407256"/>
              <a:ext cx="129446" cy="138252"/>
            </a:xfrm>
            <a:custGeom>
              <a:rect b="b" l="l" r="r" t="t"/>
              <a:pathLst>
                <a:path extrusionOk="0" h="2934" w="2933">
                  <a:moveTo>
                    <a:pt x="2479" y="2479"/>
                  </a:moveTo>
                  <a:lnTo>
                    <a:pt x="455" y="2479"/>
                  </a:lnTo>
                  <a:lnTo>
                    <a:pt x="455" y="455"/>
                  </a:lnTo>
                  <a:lnTo>
                    <a:pt x="2036" y="455"/>
                  </a:lnTo>
                  <a:lnTo>
                    <a:pt x="2491" y="0"/>
                  </a:lnTo>
                  <a:lnTo>
                    <a:pt x="0" y="0"/>
                  </a:lnTo>
                  <a:lnTo>
                    <a:pt x="0" y="2934"/>
                  </a:lnTo>
                  <a:lnTo>
                    <a:pt x="2933" y="2934"/>
                  </a:lnTo>
                  <a:lnTo>
                    <a:pt x="2933" y="1054"/>
                  </a:lnTo>
                  <a:lnTo>
                    <a:pt x="2479" y="1508"/>
                  </a:lnTo>
                  <a:lnTo>
                    <a:pt x="2479" y="2479"/>
                  </a:lnTo>
                  <a:close/>
                  <a:moveTo>
                    <a:pt x="2479" y="2479"/>
                  </a:moveTo>
                  <a:lnTo>
                    <a:pt x="2479" y="2479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lgun Gothic"/>
                <a:buNone/>
              </a:pPr>
              <a:r>
                <a:t/>
              </a:r>
              <a:endParaRPr b="0" i="0" sz="11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2565487" y="5402780"/>
              <a:ext cx="119251" cy="106116"/>
            </a:xfrm>
            <a:custGeom>
              <a:rect b="b" l="l" r="r" t="t"/>
              <a:pathLst>
                <a:path extrusionOk="0" h="2252" w="2702">
                  <a:moveTo>
                    <a:pt x="320" y="1161"/>
                  </a:moveTo>
                  <a:lnTo>
                    <a:pt x="0" y="1480"/>
                  </a:lnTo>
                  <a:lnTo>
                    <a:pt x="772" y="2252"/>
                  </a:lnTo>
                  <a:lnTo>
                    <a:pt x="2702" y="322"/>
                  </a:lnTo>
                  <a:lnTo>
                    <a:pt x="2380" y="0"/>
                  </a:lnTo>
                  <a:lnTo>
                    <a:pt x="772" y="1610"/>
                  </a:lnTo>
                  <a:lnTo>
                    <a:pt x="320" y="1161"/>
                  </a:lnTo>
                  <a:close/>
                  <a:moveTo>
                    <a:pt x="320" y="1161"/>
                  </a:moveTo>
                  <a:lnTo>
                    <a:pt x="320" y="116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lgun Gothic"/>
                <a:buNone/>
              </a:pPr>
              <a:r>
                <a:t/>
              </a:r>
              <a:endParaRPr b="0" i="0" sz="11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1" name="Google Shape;171;p26"/>
          <p:cNvSpPr/>
          <p:nvPr/>
        </p:nvSpPr>
        <p:spPr>
          <a:xfrm rot="5400000">
            <a:off x="388683" y="3928044"/>
            <a:ext cx="80100" cy="83400"/>
          </a:xfrm>
          <a:prstGeom prst="rect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p26"/>
          <p:cNvSpPr/>
          <p:nvPr/>
        </p:nvSpPr>
        <p:spPr>
          <a:xfrm rot="5400000">
            <a:off x="386962" y="4483772"/>
            <a:ext cx="80100" cy="83400"/>
          </a:xfrm>
          <a:prstGeom prst="rect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426941" y="4594106"/>
            <a:ext cx="170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600"/>
              <a:buFont typeface="Arial"/>
              <a:buChar char="•"/>
            </a:pPr>
            <a:r>
              <a:rPr lang="en" sz="600">
                <a:solidFill>
                  <a:srgbClr val="7B7B7B"/>
                </a:solidFill>
                <a:latin typeface="Arial"/>
                <a:ea typeface="Arial"/>
                <a:cs typeface="Arial"/>
                <a:sym typeface="Arial"/>
              </a:rPr>
              <a:t>우선 혈관 타겟: 5, 7 MHz</a:t>
            </a:r>
            <a:endParaRPr sz="1100"/>
          </a:p>
        </p:txBody>
      </p:sp>
      <p:sp>
        <p:nvSpPr>
          <p:cNvPr id="174" name="Google Shape;174;p26"/>
          <p:cNvSpPr txBox="1"/>
          <p:nvPr/>
        </p:nvSpPr>
        <p:spPr>
          <a:xfrm>
            <a:off x="6562915" y="1868979"/>
            <a:ext cx="18435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김강 교수님 연구실에서 담당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어떤 requirement를 제시하시는지에 따라 트랜스듀서 및 회로 최종 설계 필요</a:t>
            </a:r>
            <a:endParaRPr sz="1100"/>
          </a:p>
        </p:txBody>
      </p:sp>
      <p:pic>
        <p:nvPicPr>
          <p:cNvPr id="175" name="Google Shape;175;p26" title="Picture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4544" y="2665275"/>
            <a:ext cx="1240000" cy="779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26"/>
          <p:cNvGrpSpPr/>
          <p:nvPr/>
        </p:nvGrpSpPr>
        <p:grpSpPr>
          <a:xfrm>
            <a:off x="386896" y="3318816"/>
            <a:ext cx="110624" cy="91916"/>
            <a:chOff x="2537594" y="5402780"/>
            <a:chExt cx="147146" cy="142726"/>
          </a:xfrm>
        </p:grpSpPr>
        <p:sp>
          <p:nvSpPr>
            <p:cNvPr id="177" name="Google Shape;177;p26"/>
            <p:cNvSpPr/>
            <p:nvPr/>
          </p:nvSpPr>
          <p:spPr>
            <a:xfrm>
              <a:off x="2537594" y="5407256"/>
              <a:ext cx="129448" cy="138250"/>
            </a:xfrm>
            <a:custGeom>
              <a:rect b="b" l="l" r="r" t="t"/>
              <a:pathLst>
                <a:path extrusionOk="0" h="2934" w="2933">
                  <a:moveTo>
                    <a:pt x="2479" y="2479"/>
                  </a:moveTo>
                  <a:lnTo>
                    <a:pt x="455" y="2479"/>
                  </a:lnTo>
                  <a:lnTo>
                    <a:pt x="455" y="455"/>
                  </a:lnTo>
                  <a:lnTo>
                    <a:pt x="2036" y="455"/>
                  </a:lnTo>
                  <a:lnTo>
                    <a:pt x="2491" y="0"/>
                  </a:lnTo>
                  <a:lnTo>
                    <a:pt x="0" y="0"/>
                  </a:lnTo>
                  <a:lnTo>
                    <a:pt x="0" y="2934"/>
                  </a:lnTo>
                  <a:lnTo>
                    <a:pt x="2933" y="2934"/>
                  </a:lnTo>
                  <a:lnTo>
                    <a:pt x="2933" y="1054"/>
                  </a:lnTo>
                  <a:lnTo>
                    <a:pt x="2479" y="1508"/>
                  </a:lnTo>
                  <a:lnTo>
                    <a:pt x="2479" y="2479"/>
                  </a:lnTo>
                  <a:close/>
                  <a:moveTo>
                    <a:pt x="2479" y="2479"/>
                  </a:moveTo>
                  <a:lnTo>
                    <a:pt x="2479" y="2479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lgun Gothic"/>
                <a:buNone/>
              </a:pPr>
              <a:r>
                <a:t/>
              </a:r>
              <a:endParaRPr b="0" i="0" sz="11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2565487" y="5402780"/>
              <a:ext cx="119253" cy="106114"/>
            </a:xfrm>
            <a:custGeom>
              <a:rect b="b" l="l" r="r" t="t"/>
              <a:pathLst>
                <a:path extrusionOk="0" h="2252" w="2702">
                  <a:moveTo>
                    <a:pt x="320" y="1161"/>
                  </a:moveTo>
                  <a:lnTo>
                    <a:pt x="0" y="1480"/>
                  </a:lnTo>
                  <a:lnTo>
                    <a:pt x="772" y="2252"/>
                  </a:lnTo>
                  <a:lnTo>
                    <a:pt x="2702" y="322"/>
                  </a:lnTo>
                  <a:lnTo>
                    <a:pt x="2380" y="0"/>
                  </a:lnTo>
                  <a:lnTo>
                    <a:pt x="772" y="1610"/>
                  </a:lnTo>
                  <a:lnTo>
                    <a:pt x="320" y="1161"/>
                  </a:lnTo>
                  <a:close/>
                  <a:moveTo>
                    <a:pt x="320" y="1161"/>
                  </a:moveTo>
                  <a:lnTo>
                    <a:pt x="320" y="116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lgun Gothic"/>
                <a:buNone/>
              </a:pPr>
              <a:r>
                <a:t/>
              </a:r>
              <a:endParaRPr b="0" i="0" sz="11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9" name="Google Shape;17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7550" y="2902925"/>
            <a:ext cx="2579663" cy="17747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/>
        </p:nvSpPr>
        <p:spPr>
          <a:xfrm>
            <a:off x="2056364" y="4168716"/>
            <a:ext cx="1239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제작 및 구동</a:t>
            </a:r>
            <a:endParaRPr sz="1100"/>
          </a:p>
        </p:txBody>
      </p:sp>
      <p:sp>
        <p:nvSpPr>
          <p:cNvPr id="181" name="Google Shape;181;p26"/>
          <p:cNvSpPr/>
          <p:nvPr/>
        </p:nvSpPr>
        <p:spPr>
          <a:xfrm rot="5400000">
            <a:off x="1974613" y="4215881"/>
            <a:ext cx="80100" cy="83400"/>
          </a:xfrm>
          <a:prstGeom prst="rect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2026491" y="4313681"/>
            <a:ext cx="170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7B7B7B"/>
              </a:buClr>
              <a:buSzPts val="600"/>
              <a:buFont typeface="Arial"/>
              <a:buChar char="•"/>
            </a:pPr>
            <a:r>
              <a:rPr lang="en" sz="600">
                <a:solidFill>
                  <a:srgbClr val="7B7B7B"/>
                </a:solidFill>
              </a:rPr>
              <a:t>A-, B-, M-mode 측정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7"/>
          <p:cNvGrpSpPr/>
          <p:nvPr/>
        </p:nvGrpSpPr>
        <p:grpSpPr>
          <a:xfrm>
            <a:off x="134634" y="-2990"/>
            <a:ext cx="6723471" cy="635759"/>
            <a:chOff x="179512" y="-3986"/>
            <a:chExt cx="8964628" cy="847678"/>
          </a:xfrm>
        </p:grpSpPr>
        <p:sp>
          <p:nvSpPr>
            <p:cNvPr id="189" name="Google Shape;189;p27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1" name="Google Shape;191;p27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27"/>
          <p:cNvSpPr txBox="1"/>
          <p:nvPr/>
        </p:nvSpPr>
        <p:spPr>
          <a:xfrm>
            <a:off x="286300" y="360225"/>
            <a:ext cx="66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Pulse-</a:t>
            </a:r>
            <a:r>
              <a:rPr lang="en" sz="1800">
                <a:solidFill>
                  <a:schemeClr val="dk1"/>
                </a:solidFill>
              </a:rPr>
              <a:t>E</a:t>
            </a:r>
            <a:r>
              <a:rPr lang="en" sz="1800">
                <a:solidFill>
                  <a:schemeClr val="dk1"/>
                </a:solidFill>
              </a:rPr>
              <a:t>cho</a:t>
            </a:r>
            <a:endParaRPr sz="1100"/>
          </a:p>
        </p:txBody>
      </p:sp>
      <p:graphicFrame>
        <p:nvGraphicFramePr>
          <p:cNvPr id="193" name="Google Shape;193;p27"/>
          <p:cNvGraphicFramePr/>
          <p:nvPr/>
        </p:nvGraphicFramePr>
        <p:xfrm>
          <a:off x="3978800" y="164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{0918DD3C-D4CC-49C1-8725-6328B6FA7FBD}</a:tableStyleId>
              </a:tblPr>
              <a:tblGrid>
                <a:gridCol w="1341725"/>
                <a:gridCol w="838475"/>
                <a:gridCol w="1738075"/>
              </a:tblGrid>
              <a:tr h="19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Material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Speed (m/s)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Acoustic Impedance (MRayl)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Air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330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0.0004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Water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1430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1.43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Fat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1450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1.38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Blood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1570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1.65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Muscle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1580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1.71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Skin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1600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-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Bone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3500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7.8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Piezoelectric composite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3800~4000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6~26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Bulk PZT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4200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30~35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Aluminum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6420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17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Steel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5900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45.7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27"/>
          <p:cNvSpPr txBox="1"/>
          <p:nvPr/>
        </p:nvSpPr>
        <p:spPr>
          <a:xfrm>
            <a:off x="7333025" y="24381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</a:rPr>
              <a:t>Soft-tissue average: </a:t>
            </a:r>
            <a:endParaRPr sz="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</a:rPr>
              <a:t>1540 m/s, 1.63 </a:t>
            </a:r>
            <a:r>
              <a:rPr lang="en" sz="800">
                <a:solidFill>
                  <a:schemeClr val="accent1"/>
                </a:solidFill>
              </a:rPr>
              <a:t>MRayl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3870125" y="2243475"/>
            <a:ext cx="3462900" cy="697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3870125" y="3117975"/>
            <a:ext cx="3462900" cy="354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7333025" y="3018225"/>
            <a:ext cx="206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6"/>
                </a:solidFill>
              </a:rPr>
              <a:t>Epoxy filling enables</a:t>
            </a:r>
            <a:endParaRPr sz="8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6"/>
                </a:solidFill>
              </a:rPr>
              <a:t>better impedance matching </a:t>
            </a:r>
            <a:endParaRPr sz="8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6"/>
                </a:solidFill>
              </a:rPr>
              <a:t>with soft tissue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98" name="Google Shape;198;p27" title="KakaoTalk_20260707_165752182_08.jpg"/>
          <p:cNvPicPr preferRelativeResize="0"/>
          <p:nvPr/>
        </p:nvPicPr>
        <p:blipFill rotWithShape="1">
          <a:blip r:embed="rId3">
            <a:alphaModFix/>
          </a:blip>
          <a:srcRect b="0" l="10897" r="58943" t="0"/>
          <a:stretch/>
        </p:blipFill>
        <p:spPr>
          <a:xfrm>
            <a:off x="1000925" y="1175525"/>
            <a:ext cx="2120873" cy="32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/>
        </p:nvSpPr>
        <p:spPr>
          <a:xfrm>
            <a:off x="3218071" y="1394200"/>
            <a:ext cx="25005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Represent A-mode’s amplitude peaks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  as grayscale dots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Sweep for every element along a 1D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   line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6062700" y="1065500"/>
            <a:ext cx="2800800" cy="37638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246600" y="1065500"/>
            <a:ext cx="2800800" cy="37638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3154650" y="1065500"/>
            <a:ext cx="2800800" cy="37638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08" name="Google Shape;208;p28"/>
          <p:cNvGrpSpPr/>
          <p:nvPr/>
        </p:nvGrpSpPr>
        <p:grpSpPr>
          <a:xfrm>
            <a:off x="134634" y="-2989"/>
            <a:ext cx="6723471" cy="635765"/>
            <a:chOff x="179512" y="-3986"/>
            <a:chExt cx="8964628" cy="847686"/>
          </a:xfrm>
        </p:grpSpPr>
        <p:sp>
          <p:nvSpPr>
            <p:cNvPr id="209" name="Google Shape;209;p28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1" name="Google Shape;211;p28"/>
            <p:cNvSpPr txBox="1"/>
            <p:nvPr/>
          </p:nvSpPr>
          <p:spPr>
            <a:xfrm>
              <a:off x="381731" y="542200"/>
              <a:ext cx="85866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Pulse-Echo Modes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2" name="Google Shape;212;p28"/>
          <p:cNvPicPr preferRelativeResize="0"/>
          <p:nvPr/>
        </p:nvPicPr>
        <p:blipFill rotWithShape="1">
          <a:blip r:embed="rId3">
            <a:alphaModFix/>
          </a:blip>
          <a:srcRect b="0" l="40631" r="30091" t="80633"/>
          <a:stretch/>
        </p:blipFill>
        <p:spPr>
          <a:xfrm>
            <a:off x="3679175" y="1925462"/>
            <a:ext cx="1863501" cy="56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53" y="2689603"/>
            <a:ext cx="2644105" cy="16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8"/>
          <p:cNvPicPr preferRelativeResize="0"/>
          <p:nvPr/>
        </p:nvPicPr>
        <p:blipFill rotWithShape="1">
          <a:blip r:embed="rId5">
            <a:alphaModFix/>
          </a:blip>
          <a:srcRect b="10208" l="0" r="77733" t="11929"/>
          <a:stretch/>
        </p:blipFill>
        <p:spPr>
          <a:xfrm>
            <a:off x="4593888" y="3193225"/>
            <a:ext cx="547275" cy="13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8"/>
          <p:cNvPicPr preferRelativeResize="0"/>
          <p:nvPr/>
        </p:nvPicPr>
        <p:blipFill rotWithShape="1">
          <a:blip r:embed="rId6">
            <a:alphaModFix/>
          </a:blip>
          <a:srcRect b="4979" l="58695" r="11339" t="22230"/>
          <a:stretch/>
        </p:blipFill>
        <p:spPr>
          <a:xfrm>
            <a:off x="5141163" y="3193224"/>
            <a:ext cx="694501" cy="13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8"/>
          <p:cNvPicPr preferRelativeResize="0"/>
          <p:nvPr/>
        </p:nvPicPr>
        <p:blipFill rotWithShape="1">
          <a:blip r:embed="rId5">
            <a:alphaModFix/>
          </a:blip>
          <a:srcRect b="0" l="22771" r="11681" t="4943"/>
          <a:stretch/>
        </p:blipFill>
        <p:spPr>
          <a:xfrm>
            <a:off x="3274438" y="3193225"/>
            <a:ext cx="1319450" cy="13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1337" y="3193225"/>
            <a:ext cx="2450975" cy="14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/>
        </p:nvSpPr>
        <p:spPr>
          <a:xfrm>
            <a:off x="324900" y="1422150"/>
            <a:ext cx="26442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Measures distance between tissue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  boundaries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Only requires one element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One-time measurement: no temporal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  resolution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567403" y="975575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A-Mode: Amplitude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596103" y="975575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B</a:t>
            </a:r>
            <a:r>
              <a:rPr lang="en" sz="1000">
                <a:solidFill>
                  <a:schemeClr val="lt1"/>
                </a:solidFill>
              </a:rPr>
              <a:t>-Mode: Brightness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6518728" y="975575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M</a:t>
            </a:r>
            <a:r>
              <a:rPr lang="en" sz="1000">
                <a:solidFill>
                  <a:schemeClr val="lt1"/>
                </a:solidFill>
              </a:rPr>
              <a:t>-Mode: Motion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6174450" y="1394300"/>
            <a:ext cx="25347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Represent A-mode’s amplitude peaks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  as grayscale dots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Continuously repeat for one element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23" name="Google Shape;223;p28"/>
          <p:cNvPicPr preferRelativeResize="0"/>
          <p:nvPr/>
        </p:nvPicPr>
        <p:blipFill rotWithShape="1">
          <a:blip r:embed="rId3">
            <a:alphaModFix/>
          </a:blip>
          <a:srcRect b="0" l="40631" r="30091" t="80633"/>
          <a:stretch/>
        </p:blipFill>
        <p:spPr>
          <a:xfrm>
            <a:off x="6585075" y="1925462"/>
            <a:ext cx="1863501" cy="56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/>
        </p:nvSpPr>
        <p:spPr>
          <a:xfrm>
            <a:off x="1906563" y="4499875"/>
            <a:ext cx="987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+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4759300" y="1065500"/>
            <a:ext cx="4182600" cy="37638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7178350" y="4220100"/>
            <a:ext cx="1691700" cy="48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179150" y="1062475"/>
            <a:ext cx="4420200" cy="16377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1460150" y="4329525"/>
            <a:ext cx="772500" cy="87000"/>
          </a:xfrm>
          <a:prstGeom prst="rect">
            <a:avLst/>
          </a:prstGeom>
          <a:solidFill>
            <a:srgbClr val="97D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4" name="Google Shape;234;p29"/>
          <p:cNvGrpSpPr/>
          <p:nvPr/>
        </p:nvGrpSpPr>
        <p:grpSpPr>
          <a:xfrm>
            <a:off x="134634" y="-2990"/>
            <a:ext cx="6723471" cy="635759"/>
            <a:chOff x="179512" y="-3986"/>
            <a:chExt cx="8964628" cy="847678"/>
          </a:xfrm>
        </p:grpSpPr>
        <p:sp>
          <p:nvSpPr>
            <p:cNvPr id="235" name="Google Shape;235;p29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7" name="Google Shape;237;p29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" name="Google Shape;238;p29"/>
          <p:cNvSpPr txBox="1"/>
          <p:nvPr/>
        </p:nvSpPr>
        <p:spPr>
          <a:xfrm>
            <a:off x="286300" y="360225"/>
            <a:ext cx="66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실험 1. 상용 트랜스듀서의 펄스-에코 확인을 통한 측정 셋업 검증</a:t>
            </a:r>
            <a:endParaRPr sz="1100"/>
          </a:p>
        </p:txBody>
      </p:sp>
      <p:pic>
        <p:nvPicPr>
          <p:cNvPr id="239" name="Google Shape;239;p29"/>
          <p:cNvPicPr preferRelativeResize="0"/>
          <p:nvPr/>
        </p:nvPicPr>
        <p:blipFill rotWithShape="1">
          <a:blip r:embed="rId3">
            <a:alphaModFix/>
          </a:blip>
          <a:srcRect b="12889" l="2361" r="37705" t="9465"/>
          <a:stretch/>
        </p:blipFill>
        <p:spPr>
          <a:xfrm>
            <a:off x="5243200" y="2554513"/>
            <a:ext cx="3380874" cy="151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 title="circui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425" y="1173548"/>
            <a:ext cx="2484375" cy="138020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9"/>
          <p:cNvSpPr txBox="1"/>
          <p:nvPr/>
        </p:nvSpPr>
        <p:spPr>
          <a:xfrm>
            <a:off x="1600150" y="1649725"/>
            <a:ext cx="987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+</a:t>
            </a:r>
            <a:endParaRPr sz="9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Transducer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5038838" y="1477663"/>
            <a:ext cx="729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Transmit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1186175" y="1711825"/>
            <a:ext cx="6594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Scope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CH1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1250075" y="1800475"/>
            <a:ext cx="191700" cy="191700"/>
          </a:xfrm>
          <a:prstGeom prst="ellipse">
            <a:avLst/>
          </a:prstGeom>
          <a:solidFill>
            <a:srgbClr val="FFDF03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2482750" y="1800475"/>
            <a:ext cx="191700" cy="191700"/>
          </a:xfrm>
          <a:prstGeom prst="ellipse">
            <a:avLst/>
          </a:prstGeom>
          <a:solidFill>
            <a:srgbClr val="8FFF03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2423250" y="1711825"/>
            <a:ext cx="6594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Scope 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CH2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0" y="1711825"/>
            <a:ext cx="549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AFG</a:t>
            </a:r>
            <a:endParaRPr b="1" sz="700">
              <a:solidFill>
                <a:schemeClr val="dk1"/>
              </a:solidFill>
            </a:endParaRPr>
          </a:p>
        </p:txBody>
      </p:sp>
      <p:cxnSp>
        <p:nvCxnSpPr>
          <p:cNvPr id="248" name="Google Shape;248;p29"/>
          <p:cNvCxnSpPr/>
          <p:nvPr/>
        </p:nvCxnSpPr>
        <p:spPr>
          <a:xfrm>
            <a:off x="5529900" y="2427275"/>
            <a:ext cx="6000" cy="16377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9"/>
          <p:cNvCxnSpPr/>
          <p:nvPr/>
        </p:nvCxnSpPr>
        <p:spPr>
          <a:xfrm>
            <a:off x="5906200" y="2548700"/>
            <a:ext cx="0" cy="15267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0" name="Google Shape;250;p29"/>
          <p:cNvSpPr txBox="1"/>
          <p:nvPr/>
        </p:nvSpPr>
        <p:spPr>
          <a:xfrm>
            <a:off x="5288750" y="4102225"/>
            <a:ext cx="863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Ringdown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251" name="Google Shape;251;p29"/>
          <p:cNvCxnSpPr/>
          <p:nvPr/>
        </p:nvCxnSpPr>
        <p:spPr>
          <a:xfrm>
            <a:off x="5546600" y="4176575"/>
            <a:ext cx="34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52" name="Google Shape;252;p29"/>
          <p:cNvCxnSpPr/>
          <p:nvPr/>
        </p:nvCxnSpPr>
        <p:spPr>
          <a:xfrm>
            <a:off x="5537100" y="1807763"/>
            <a:ext cx="30810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53" name="Google Shape;253;p29"/>
          <p:cNvSpPr txBox="1"/>
          <p:nvPr/>
        </p:nvSpPr>
        <p:spPr>
          <a:xfrm>
            <a:off x="6467838" y="1390025"/>
            <a:ext cx="1262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Receive 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(Listening time)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/>
          <p:nvPr/>
        </p:nvSpPr>
        <p:spPr>
          <a:xfrm>
            <a:off x="5265187" y="1882050"/>
            <a:ext cx="85726" cy="507975"/>
          </a:xfrm>
          <a:custGeom>
            <a:rect b="b" l="l" r="r" t="t"/>
            <a:pathLst>
              <a:path extrusionOk="0" h="20319" w="22310">
                <a:moveTo>
                  <a:pt x="473" y="10293"/>
                </a:moveTo>
                <a:cubicBezTo>
                  <a:pt x="473" y="6843"/>
                  <a:pt x="-1304" y="-497"/>
                  <a:pt x="2099" y="71"/>
                </a:cubicBezTo>
                <a:cubicBezTo>
                  <a:pt x="8457" y="1131"/>
                  <a:pt x="5881" y="12402"/>
                  <a:pt x="7443" y="18656"/>
                </a:cubicBezTo>
                <a:cubicBezTo>
                  <a:pt x="7594" y="19262"/>
                  <a:pt x="7766" y="20433"/>
                  <a:pt x="8372" y="20282"/>
                </a:cubicBezTo>
                <a:cubicBezTo>
                  <a:pt x="14737" y="18692"/>
                  <a:pt x="5887" y="2285"/>
                  <a:pt x="12321" y="1000"/>
                </a:cubicBezTo>
                <a:cubicBezTo>
                  <a:pt x="18206" y="-175"/>
                  <a:pt x="16212" y="12369"/>
                  <a:pt x="17665" y="18192"/>
                </a:cubicBezTo>
                <a:cubicBezTo>
                  <a:pt x="17811" y="18778"/>
                  <a:pt x="18253" y="19776"/>
                  <a:pt x="18826" y="19585"/>
                </a:cubicBezTo>
                <a:cubicBezTo>
                  <a:pt x="22241" y="18446"/>
                  <a:pt x="22311" y="12963"/>
                  <a:pt x="22311" y="9363"/>
                </a:cubicBezTo>
              </a:path>
            </a:pathLst>
          </a:custGeom>
          <a:noFill/>
          <a:ln cap="flat" cmpd="sng" w="9525">
            <a:solidFill>
              <a:srgbClr val="FDB72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5" name="Google Shape;255;p29"/>
          <p:cNvSpPr/>
          <p:nvPr/>
        </p:nvSpPr>
        <p:spPr>
          <a:xfrm>
            <a:off x="5444175" y="1882038"/>
            <a:ext cx="85726" cy="507975"/>
          </a:xfrm>
          <a:custGeom>
            <a:rect b="b" l="l" r="r" t="t"/>
            <a:pathLst>
              <a:path extrusionOk="0" h="20319" w="22310">
                <a:moveTo>
                  <a:pt x="473" y="10293"/>
                </a:moveTo>
                <a:cubicBezTo>
                  <a:pt x="473" y="6843"/>
                  <a:pt x="-1304" y="-497"/>
                  <a:pt x="2099" y="71"/>
                </a:cubicBezTo>
                <a:cubicBezTo>
                  <a:pt x="8457" y="1131"/>
                  <a:pt x="5881" y="12402"/>
                  <a:pt x="7443" y="18656"/>
                </a:cubicBezTo>
                <a:cubicBezTo>
                  <a:pt x="7594" y="19262"/>
                  <a:pt x="7766" y="20433"/>
                  <a:pt x="8372" y="20282"/>
                </a:cubicBezTo>
                <a:cubicBezTo>
                  <a:pt x="14737" y="18692"/>
                  <a:pt x="5887" y="2285"/>
                  <a:pt x="12321" y="1000"/>
                </a:cubicBezTo>
                <a:cubicBezTo>
                  <a:pt x="18206" y="-175"/>
                  <a:pt x="16212" y="12369"/>
                  <a:pt x="17665" y="18192"/>
                </a:cubicBezTo>
                <a:cubicBezTo>
                  <a:pt x="17811" y="18778"/>
                  <a:pt x="18253" y="19776"/>
                  <a:pt x="18826" y="19585"/>
                </a:cubicBezTo>
                <a:cubicBezTo>
                  <a:pt x="22241" y="18446"/>
                  <a:pt x="22311" y="12963"/>
                  <a:pt x="22311" y="9363"/>
                </a:cubicBezTo>
              </a:path>
            </a:pathLst>
          </a:custGeom>
          <a:noFill/>
          <a:ln cap="flat" cmpd="sng" w="9525">
            <a:solidFill>
              <a:srgbClr val="FDB72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6" name="Google Shape;256;p29"/>
          <p:cNvSpPr txBox="1"/>
          <p:nvPr/>
        </p:nvSpPr>
        <p:spPr>
          <a:xfrm>
            <a:off x="5128850" y="1931350"/>
            <a:ext cx="549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DB725"/>
                </a:solidFill>
              </a:rPr>
              <a:t>…</a:t>
            </a:r>
            <a:endParaRPr sz="900">
              <a:solidFill>
                <a:srgbClr val="FDB725"/>
              </a:solidFill>
            </a:endParaRPr>
          </a:p>
        </p:txBody>
      </p:sp>
      <p:cxnSp>
        <p:nvCxnSpPr>
          <p:cNvPr id="257" name="Google Shape;257;p29"/>
          <p:cNvCxnSpPr/>
          <p:nvPr/>
        </p:nvCxnSpPr>
        <p:spPr>
          <a:xfrm flipH="1" rot="10800000">
            <a:off x="5529900" y="2123375"/>
            <a:ext cx="3095400" cy="600"/>
          </a:xfrm>
          <a:prstGeom prst="straightConnector1">
            <a:avLst/>
          </a:prstGeom>
          <a:noFill/>
          <a:ln cap="flat" cmpd="sng" w="9525">
            <a:solidFill>
              <a:srgbClr val="FDB72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9"/>
          <p:cNvSpPr txBox="1"/>
          <p:nvPr/>
        </p:nvSpPr>
        <p:spPr>
          <a:xfrm>
            <a:off x="4652525" y="1992375"/>
            <a:ext cx="549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AFG</a:t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4716163" y="3146250"/>
            <a:ext cx="549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Scope</a:t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1049000" y="3455175"/>
            <a:ext cx="1594800" cy="8598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1654400" y="4373750"/>
            <a:ext cx="384000" cy="87000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2" name="Google Shape;262;p29"/>
          <p:cNvCxnSpPr/>
          <p:nvPr/>
        </p:nvCxnSpPr>
        <p:spPr>
          <a:xfrm>
            <a:off x="1047825" y="4322250"/>
            <a:ext cx="1594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9"/>
          <p:cNvCxnSpPr/>
          <p:nvPr/>
        </p:nvCxnSpPr>
        <p:spPr>
          <a:xfrm flipH="1">
            <a:off x="2635400" y="3242750"/>
            <a:ext cx="6600" cy="1089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9"/>
          <p:cNvCxnSpPr/>
          <p:nvPr/>
        </p:nvCxnSpPr>
        <p:spPr>
          <a:xfrm flipH="1">
            <a:off x="1045625" y="3242750"/>
            <a:ext cx="6600" cy="1089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9"/>
          <p:cNvCxnSpPr/>
          <p:nvPr/>
        </p:nvCxnSpPr>
        <p:spPr>
          <a:xfrm>
            <a:off x="2038400" y="4460750"/>
            <a:ext cx="269400" cy="185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9"/>
          <p:cNvCxnSpPr/>
          <p:nvPr/>
        </p:nvCxnSpPr>
        <p:spPr>
          <a:xfrm>
            <a:off x="2027700" y="4431075"/>
            <a:ext cx="319500" cy="15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9"/>
          <p:cNvSpPr txBox="1"/>
          <p:nvPr/>
        </p:nvSpPr>
        <p:spPr>
          <a:xfrm>
            <a:off x="1350013" y="4253325"/>
            <a:ext cx="987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Transducer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615225" y="4131950"/>
            <a:ext cx="987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Ultrasound gel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822925" y="3257963"/>
            <a:ext cx="987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Water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796975" y="3128450"/>
            <a:ext cx="987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Air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71" name="Google Shape;271;p29"/>
          <p:cNvCxnSpPr/>
          <p:nvPr/>
        </p:nvCxnSpPr>
        <p:spPr>
          <a:xfrm rot="10800000">
            <a:off x="1784563" y="3455175"/>
            <a:ext cx="6600" cy="90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2" name="Google Shape;272;p29"/>
          <p:cNvCxnSpPr/>
          <p:nvPr/>
        </p:nvCxnSpPr>
        <p:spPr>
          <a:xfrm>
            <a:off x="1906575" y="3472850"/>
            <a:ext cx="10200" cy="900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3" name="Google Shape;273;p29"/>
          <p:cNvCxnSpPr/>
          <p:nvPr/>
        </p:nvCxnSpPr>
        <p:spPr>
          <a:xfrm flipH="1">
            <a:off x="7044975" y="2554800"/>
            <a:ext cx="3000" cy="15204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4" name="Google Shape;274;p29"/>
          <p:cNvSpPr txBox="1"/>
          <p:nvPr/>
        </p:nvSpPr>
        <p:spPr>
          <a:xfrm>
            <a:off x="1549300" y="3585525"/>
            <a:ext cx="987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d</a:t>
            </a:r>
            <a:endParaRPr b="1" sz="1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5">
            <a:alphaModFix/>
          </a:blip>
          <a:srcRect b="50585" l="27993" r="32251" t="20818"/>
          <a:stretch/>
        </p:blipFill>
        <p:spPr>
          <a:xfrm>
            <a:off x="3199825" y="3455175"/>
            <a:ext cx="896552" cy="8598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29"/>
          <p:cNvCxnSpPr/>
          <p:nvPr/>
        </p:nvCxnSpPr>
        <p:spPr>
          <a:xfrm flipH="1" rot="10800000">
            <a:off x="2170550" y="4325675"/>
            <a:ext cx="1017000" cy="1341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9"/>
          <p:cNvCxnSpPr/>
          <p:nvPr/>
        </p:nvCxnSpPr>
        <p:spPr>
          <a:xfrm flipH="1" rot="10800000">
            <a:off x="1996525" y="3479325"/>
            <a:ext cx="1191300" cy="855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8" name="Google Shape;278;p29"/>
          <p:cNvSpPr txBox="1"/>
          <p:nvPr/>
        </p:nvSpPr>
        <p:spPr>
          <a:xfrm>
            <a:off x="7882475" y="4204950"/>
            <a:ext cx="1095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(c: 매질에서의 음속)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279" name="Google Shape;279;p29" title="Picture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9200" y="4299005"/>
            <a:ext cx="660900" cy="3264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29"/>
          <p:cNvCxnSpPr/>
          <p:nvPr/>
        </p:nvCxnSpPr>
        <p:spPr>
          <a:xfrm>
            <a:off x="5546600" y="4399413"/>
            <a:ext cx="14919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81" name="Google Shape;281;p29"/>
          <p:cNvCxnSpPr/>
          <p:nvPr/>
        </p:nvCxnSpPr>
        <p:spPr>
          <a:xfrm>
            <a:off x="5533750" y="1715550"/>
            <a:ext cx="3900" cy="864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 flipH="1">
            <a:off x="8620150" y="1719800"/>
            <a:ext cx="1200" cy="859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 flipH="1">
            <a:off x="7043175" y="4091950"/>
            <a:ext cx="1800" cy="412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9"/>
          <p:cNvCxnSpPr/>
          <p:nvPr/>
        </p:nvCxnSpPr>
        <p:spPr>
          <a:xfrm flipH="1">
            <a:off x="5909200" y="4064975"/>
            <a:ext cx="1200" cy="157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9"/>
          <p:cNvCxnSpPr/>
          <p:nvPr/>
        </p:nvCxnSpPr>
        <p:spPr>
          <a:xfrm>
            <a:off x="5534700" y="4064975"/>
            <a:ext cx="900" cy="143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9"/>
          <p:cNvCxnSpPr/>
          <p:nvPr/>
        </p:nvCxnSpPr>
        <p:spPr>
          <a:xfrm flipH="1">
            <a:off x="5534400" y="4368275"/>
            <a:ext cx="300" cy="12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7" name="Google Shape;287;p29"/>
          <p:cNvSpPr txBox="1"/>
          <p:nvPr/>
        </p:nvSpPr>
        <p:spPr>
          <a:xfrm>
            <a:off x="5713700" y="4338375"/>
            <a:ext cx="1157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1차 에코 도착 시간 </a:t>
            </a:r>
            <a:r>
              <a:rPr b="1" i="1" lang="en" sz="900">
                <a:solidFill>
                  <a:schemeClr val="dk1"/>
                </a:solidFill>
              </a:rPr>
              <a:t>t</a:t>
            </a:r>
            <a:endParaRPr b="1" sz="900">
              <a:solidFill>
                <a:schemeClr val="dk1"/>
              </a:solidFill>
            </a:endParaRPr>
          </a:p>
        </p:txBody>
      </p:sp>
      <p:pic>
        <p:nvPicPr>
          <p:cNvPr id="288" name="Google Shape;288;p29" title="IMG_9704 (1)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8513" y="1616113"/>
            <a:ext cx="1343524" cy="65272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9"/>
          <p:cNvSpPr/>
          <p:nvPr/>
        </p:nvSpPr>
        <p:spPr>
          <a:xfrm>
            <a:off x="179150" y="2942650"/>
            <a:ext cx="4420200" cy="18837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p29"/>
          <p:cNvSpPr txBox="1"/>
          <p:nvPr/>
        </p:nvSpPr>
        <p:spPr>
          <a:xfrm>
            <a:off x="2170550" y="4390400"/>
            <a:ext cx="520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-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91" name="Google Shape;291;p29"/>
          <p:cNvCxnSpPr/>
          <p:nvPr/>
        </p:nvCxnSpPr>
        <p:spPr>
          <a:xfrm flipH="1" rot="10800000">
            <a:off x="5249575" y="1815875"/>
            <a:ext cx="2949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92" name="Google Shape;292;p29"/>
          <p:cNvCxnSpPr/>
          <p:nvPr/>
        </p:nvCxnSpPr>
        <p:spPr>
          <a:xfrm>
            <a:off x="5249575" y="1724325"/>
            <a:ext cx="600" cy="825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3" name="Google Shape;293;p29"/>
          <p:cNvSpPr/>
          <p:nvPr/>
        </p:nvSpPr>
        <p:spPr>
          <a:xfrm>
            <a:off x="826575" y="1738275"/>
            <a:ext cx="347700" cy="26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p29"/>
          <p:cNvSpPr txBox="1"/>
          <p:nvPr/>
        </p:nvSpPr>
        <p:spPr>
          <a:xfrm>
            <a:off x="713400" y="1679138"/>
            <a:ext cx="5205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 MHz 사인파 20개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1402278" y="967275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송수신 회로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1391153" y="2852900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트랜스듀서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5852503" y="967275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펄스-에코 관찰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/>
          <p:nvPr/>
        </p:nvSpPr>
        <p:spPr>
          <a:xfrm>
            <a:off x="246600" y="1065500"/>
            <a:ext cx="8695200" cy="37638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04" name="Google Shape;304;p30"/>
          <p:cNvGrpSpPr/>
          <p:nvPr/>
        </p:nvGrpSpPr>
        <p:grpSpPr>
          <a:xfrm>
            <a:off x="134634" y="-2990"/>
            <a:ext cx="6723471" cy="635759"/>
            <a:chOff x="179512" y="-3986"/>
            <a:chExt cx="8964628" cy="847678"/>
          </a:xfrm>
        </p:grpSpPr>
        <p:sp>
          <p:nvSpPr>
            <p:cNvPr id="305" name="Google Shape;305;p30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7" name="Google Shape;307;p30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8" name="Google Shape;30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08" y="1317537"/>
            <a:ext cx="5478380" cy="20890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9" name="Google Shape;309;p30"/>
          <p:cNvGraphicFramePr/>
          <p:nvPr/>
        </p:nvGraphicFramePr>
        <p:xfrm>
          <a:off x="623313" y="355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{05FED38F-8518-4841-B3B1-4FA8E44B6578}</a:tableStyleId>
              </a:tblPr>
              <a:tblGrid>
                <a:gridCol w="852325"/>
                <a:gridCol w="1050125"/>
                <a:gridCol w="1050125"/>
                <a:gridCol w="1050125"/>
                <a:gridCol w="1050125"/>
              </a:tblGrid>
              <a:tr h="21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1차 </a:t>
                      </a:r>
                      <a:r>
                        <a:rPr b="1" lang="en" sz="800"/>
                        <a:t>에코</a:t>
                      </a:r>
                      <a:endParaRPr b="1" sz="800"/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도착 시간 </a:t>
                      </a:r>
                      <a:r>
                        <a:rPr b="1" lang="en" sz="800"/>
                        <a:t>[µs]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1차 에코로 </a:t>
                      </a:r>
                      <a:endParaRPr b="1" sz="800"/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계산한 d [cm]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1차, 2차 에코 </a:t>
                      </a:r>
                      <a:endParaRPr b="1" sz="800"/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사이 시간 </a:t>
                      </a:r>
                      <a:r>
                        <a:rPr b="1" lang="en" sz="800"/>
                        <a:t>[µs]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1차, 2차 에코로 </a:t>
                      </a:r>
                      <a:endParaRPr b="1" sz="800"/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계산한 d [cm]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수위 8.5 cm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B7B7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131.39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B7B7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9.99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111.86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8.5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수위 11.0 cm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B7B7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167.35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B7B7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12.72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147.84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11.24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금속판 4.0 cm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B7B7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69.80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B7B7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5.3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51.02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3.8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" name="Google Shape;310;p30"/>
          <p:cNvSpPr txBox="1"/>
          <p:nvPr/>
        </p:nvSpPr>
        <p:spPr>
          <a:xfrm>
            <a:off x="6228113" y="2373300"/>
            <a:ext cx="3406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d: 반사체까지의 거리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c: 매질에서의 음속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t: </a:t>
            </a:r>
            <a:r>
              <a:rPr lang="en" sz="1000">
                <a:solidFill>
                  <a:schemeClr val="dk1"/>
                </a:solidFill>
              </a:rPr>
              <a:t>에코 도달까지 걸린 시간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286300" y="360225"/>
            <a:ext cx="66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실험 1. 상용 트랜스듀서의 펄스-에코 확인을 통한 측정 셋업 검증</a:t>
            </a:r>
            <a:endParaRPr sz="1100"/>
          </a:p>
        </p:txBody>
      </p:sp>
      <p:pic>
        <p:nvPicPr>
          <p:cNvPr id="312" name="Google Shape;312;p30" title="Picture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2000" y="1911274"/>
            <a:ext cx="903743" cy="4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/>
          <p:nvPr/>
        </p:nvSpPr>
        <p:spPr>
          <a:xfrm>
            <a:off x="3573903" y="983250"/>
            <a:ext cx="1996200" cy="18900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거리에 따른 </a:t>
            </a:r>
            <a:r>
              <a:rPr lang="en" sz="1000">
                <a:solidFill>
                  <a:schemeClr val="lt1"/>
                </a:solidFill>
              </a:rPr>
              <a:t>펄스-에코 </a:t>
            </a:r>
            <a:r>
              <a:rPr lang="en" sz="1000">
                <a:solidFill>
                  <a:schemeClr val="lt1"/>
                </a:solidFill>
              </a:rPr>
              <a:t>변화</a:t>
            </a:r>
            <a:r>
              <a:rPr lang="en" sz="1000">
                <a:solidFill>
                  <a:schemeClr val="lt1"/>
                </a:solidFill>
              </a:rPr>
              <a:t> 관찰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6033925" y="3552238"/>
            <a:ext cx="50295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</a:t>
            </a:r>
            <a:r>
              <a:rPr lang="en" sz="1000">
                <a:solidFill>
                  <a:schemeClr val="dk1"/>
                </a:solidFill>
              </a:rPr>
              <a:t>세 조건 모두에서 뚜렷한 에코 관찰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</a:t>
            </a:r>
            <a:r>
              <a:rPr lang="en" sz="1000">
                <a:solidFill>
                  <a:schemeClr val="dk1"/>
                </a:solidFill>
              </a:rPr>
              <a:t>반사체 거리에 따른 에코 도달 시간 증가 확인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•  에코 도달 시간 기반 거리 측정 가능성 확인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</a:t>
            </a:r>
            <a:r>
              <a:rPr lang="en" sz="1000">
                <a:solidFill>
                  <a:schemeClr val="dk1"/>
                </a:solidFill>
              </a:rPr>
              <a:t>일정한 간격의 다중 반사(n차 에코) 확인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31"/>
          <p:cNvGrpSpPr/>
          <p:nvPr/>
        </p:nvGrpSpPr>
        <p:grpSpPr>
          <a:xfrm>
            <a:off x="134634" y="-2990"/>
            <a:ext cx="6723471" cy="635759"/>
            <a:chOff x="179512" y="-3986"/>
            <a:chExt cx="8964628" cy="847678"/>
          </a:xfrm>
        </p:grpSpPr>
        <p:sp>
          <p:nvSpPr>
            <p:cNvPr id="321" name="Google Shape;321;p31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3" name="Google Shape;323;p31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4" name="Google Shape;324;p31"/>
          <p:cNvPicPr preferRelativeResize="0"/>
          <p:nvPr/>
        </p:nvPicPr>
        <p:blipFill rotWithShape="1">
          <a:blip r:embed="rId3">
            <a:alphaModFix/>
          </a:blip>
          <a:srcRect b="11730" l="2542" r="18282" t="11806"/>
          <a:stretch/>
        </p:blipFill>
        <p:spPr>
          <a:xfrm>
            <a:off x="775075" y="2571751"/>
            <a:ext cx="2191784" cy="133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1"/>
          <p:cNvPicPr preferRelativeResize="0"/>
          <p:nvPr/>
        </p:nvPicPr>
        <p:blipFill rotWithShape="1">
          <a:blip r:embed="rId4">
            <a:alphaModFix/>
          </a:blip>
          <a:srcRect b="12730" l="2488" r="18784" t="9834"/>
          <a:stretch/>
        </p:blipFill>
        <p:spPr>
          <a:xfrm>
            <a:off x="3110416" y="2571750"/>
            <a:ext cx="2191784" cy="133097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1"/>
          <p:cNvSpPr txBox="1"/>
          <p:nvPr/>
        </p:nvSpPr>
        <p:spPr>
          <a:xfrm>
            <a:off x="1364775" y="878950"/>
            <a:ext cx="3808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H2K 1 MHz                                      Steminc 1 MHz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255550" y="293775"/>
            <a:ext cx="706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실험 2. </a:t>
            </a:r>
            <a:r>
              <a:rPr lang="en" sz="1800">
                <a:solidFill>
                  <a:schemeClr val="dk1"/>
                </a:solidFill>
              </a:rPr>
              <a:t>Bare PZT</a:t>
            </a:r>
            <a:r>
              <a:rPr lang="en" sz="1800">
                <a:solidFill>
                  <a:schemeClr val="dk1"/>
                </a:solidFill>
              </a:rPr>
              <a:t> 펄스-에코 특성 비교를 통한 활용 가능성 검증</a:t>
            </a:r>
            <a:endParaRPr/>
          </a:p>
        </p:txBody>
      </p:sp>
      <p:pic>
        <p:nvPicPr>
          <p:cNvPr id="328" name="Google Shape;328;p31"/>
          <p:cNvPicPr preferRelativeResize="0"/>
          <p:nvPr/>
        </p:nvPicPr>
        <p:blipFill rotWithShape="1">
          <a:blip r:embed="rId5">
            <a:alphaModFix/>
          </a:blip>
          <a:srcRect b="0" l="0" r="0" t="11987"/>
          <a:stretch/>
        </p:blipFill>
        <p:spPr>
          <a:xfrm>
            <a:off x="6003100" y="983500"/>
            <a:ext cx="2508451" cy="165582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 txBox="1"/>
          <p:nvPr/>
        </p:nvSpPr>
        <p:spPr>
          <a:xfrm>
            <a:off x="773500" y="4298829"/>
            <a:ext cx="41340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•  에코 크기 - Matching layer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 링다운 시간(deadzone) - Backing layer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255550" y="817600"/>
            <a:ext cx="5252100" cy="32964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31" name="Google Shape;331;p31"/>
          <p:cNvPicPr preferRelativeResize="0"/>
          <p:nvPr/>
        </p:nvPicPr>
        <p:blipFill rotWithShape="1">
          <a:blip r:embed="rId6">
            <a:alphaModFix/>
          </a:blip>
          <a:srcRect b="13501" l="2345" r="2345" t="3110"/>
          <a:stretch/>
        </p:blipFill>
        <p:spPr>
          <a:xfrm>
            <a:off x="1876750" y="1188175"/>
            <a:ext cx="1037199" cy="1292477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2" name="Google Shape;332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70087" y="1188163"/>
            <a:ext cx="969366" cy="1292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07325" y="1188175"/>
            <a:ext cx="969373" cy="1292483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4" name="Google Shape;334;p31"/>
          <p:cNvPicPr preferRelativeResize="0"/>
          <p:nvPr/>
        </p:nvPicPr>
        <p:blipFill rotWithShape="1">
          <a:blip r:embed="rId9">
            <a:alphaModFix/>
          </a:blip>
          <a:srcRect b="46547" l="27580" r="14563" t="0"/>
          <a:stretch/>
        </p:blipFill>
        <p:spPr>
          <a:xfrm rot="5400000">
            <a:off x="570851" y="1400162"/>
            <a:ext cx="1319849" cy="9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1"/>
          <p:cNvPicPr preferRelativeResize="0"/>
          <p:nvPr/>
        </p:nvPicPr>
        <p:blipFill rotWithShape="1">
          <a:blip r:embed="rId10">
            <a:alphaModFix/>
          </a:blip>
          <a:srcRect b="0" l="0" r="0" t="13607"/>
          <a:stretch/>
        </p:blipFill>
        <p:spPr>
          <a:xfrm>
            <a:off x="5855400" y="2867350"/>
            <a:ext cx="2967634" cy="16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32"/>
          <p:cNvGrpSpPr/>
          <p:nvPr/>
        </p:nvGrpSpPr>
        <p:grpSpPr>
          <a:xfrm>
            <a:off x="134634" y="-2990"/>
            <a:ext cx="6723471" cy="635759"/>
            <a:chOff x="179512" y="-3986"/>
            <a:chExt cx="8964628" cy="847678"/>
          </a:xfrm>
        </p:grpSpPr>
        <p:sp>
          <p:nvSpPr>
            <p:cNvPr id="342" name="Google Shape;342;p32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4" name="Google Shape;344;p32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p32"/>
          <p:cNvSpPr txBox="1"/>
          <p:nvPr/>
        </p:nvSpPr>
        <p:spPr>
          <a:xfrm>
            <a:off x="286304" y="360236"/>
            <a:ext cx="592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실험 3. 에코플렉스 도포를 통한 초음파젤 대체 가능성 검증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46" name="Google Shape;346;p32"/>
          <p:cNvPicPr preferRelativeResize="0"/>
          <p:nvPr/>
        </p:nvPicPr>
        <p:blipFill rotWithShape="1">
          <a:blip r:embed="rId3">
            <a:alphaModFix/>
          </a:blip>
          <a:srcRect b="0" l="0" r="0" t="12304"/>
          <a:stretch/>
        </p:blipFill>
        <p:spPr>
          <a:xfrm>
            <a:off x="3441103" y="3472775"/>
            <a:ext cx="2751049" cy="153086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2"/>
          <p:cNvSpPr txBox="1"/>
          <p:nvPr/>
        </p:nvSpPr>
        <p:spPr>
          <a:xfrm>
            <a:off x="448876" y="3761950"/>
            <a:ext cx="29181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•  에코 크기 줄어들었지만 충분한 크기 확보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•  Backing layer로의 사용 가능성 추가 실험 필요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348" name="Google Shape;348;p32"/>
          <p:cNvPicPr preferRelativeResize="0"/>
          <p:nvPr/>
        </p:nvPicPr>
        <p:blipFill rotWithShape="1">
          <a:blip r:embed="rId4">
            <a:alphaModFix/>
          </a:blip>
          <a:srcRect b="26508" l="14926" r="12479" t="0"/>
          <a:stretch/>
        </p:blipFill>
        <p:spPr>
          <a:xfrm>
            <a:off x="6305013" y="802625"/>
            <a:ext cx="2628675" cy="36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2"/>
          <p:cNvSpPr txBox="1"/>
          <p:nvPr/>
        </p:nvSpPr>
        <p:spPr>
          <a:xfrm>
            <a:off x="925075" y="843962"/>
            <a:ext cx="2067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9800" lIns="59800" spcFirstLastPara="1" rIns="59800" wrap="square" tIns="5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1">
                <a:solidFill>
                  <a:schemeClr val="dk1"/>
                </a:solidFill>
              </a:rPr>
              <a:t>H2K 1 MHz + Ecoflex + Gel</a:t>
            </a:r>
            <a:endParaRPr b="1" sz="916">
              <a:solidFill>
                <a:schemeClr val="dk1"/>
              </a:solidFill>
            </a:endParaRPr>
          </a:p>
        </p:txBody>
      </p:sp>
      <p:pic>
        <p:nvPicPr>
          <p:cNvPr id="350" name="Google Shape;350;p32"/>
          <p:cNvPicPr preferRelativeResize="0"/>
          <p:nvPr/>
        </p:nvPicPr>
        <p:blipFill rotWithShape="1">
          <a:blip r:embed="rId5">
            <a:alphaModFix/>
          </a:blip>
          <a:srcRect b="13017" l="2344" r="19015" t="8803"/>
          <a:stretch/>
        </p:blipFill>
        <p:spPr>
          <a:xfrm>
            <a:off x="3327183" y="1171063"/>
            <a:ext cx="1323296" cy="827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2"/>
          <p:cNvPicPr preferRelativeResize="0"/>
          <p:nvPr/>
        </p:nvPicPr>
        <p:blipFill rotWithShape="1">
          <a:blip r:embed="rId6">
            <a:alphaModFix/>
          </a:blip>
          <a:srcRect b="11996" l="1939" r="18929" t="9084"/>
          <a:stretch/>
        </p:blipFill>
        <p:spPr>
          <a:xfrm>
            <a:off x="925075" y="2476287"/>
            <a:ext cx="1296198" cy="81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2"/>
          <p:cNvPicPr preferRelativeResize="0"/>
          <p:nvPr/>
        </p:nvPicPr>
        <p:blipFill rotWithShape="1">
          <a:blip r:embed="rId7">
            <a:alphaModFix/>
          </a:blip>
          <a:srcRect b="11363" l="2601" r="17870" t="9560"/>
          <a:stretch/>
        </p:blipFill>
        <p:spPr>
          <a:xfrm>
            <a:off x="3366983" y="2476287"/>
            <a:ext cx="1296200" cy="81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2"/>
          <p:cNvPicPr preferRelativeResize="0"/>
          <p:nvPr/>
        </p:nvPicPr>
        <p:blipFill rotWithShape="1">
          <a:blip r:embed="rId8">
            <a:alphaModFix/>
          </a:blip>
          <a:srcRect b="12325" l="2804" r="19102" t="8417"/>
          <a:stretch/>
        </p:blipFill>
        <p:spPr>
          <a:xfrm>
            <a:off x="912375" y="1173858"/>
            <a:ext cx="1296198" cy="827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29315" y="1287346"/>
            <a:ext cx="727495" cy="713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66077" y="1284545"/>
            <a:ext cx="727499" cy="713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66077" y="2644834"/>
            <a:ext cx="785448" cy="6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368683" y="2644839"/>
            <a:ext cx="785448" cy="64179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2"/>
          <p:cNvSpPr txBox="1"/>
          <p:nvPr/>
        </p:nvSpPr>
        <p:spPr>
          <a:xfrm>
            <a:off x="985628" y="2161985"/>
            <a:ext cx="15648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9800" lIns="59800" spcFirstLastPara="1" rIns="59800" wrap="square" tIns="5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1">
                <a:solidFill>
                  <a:schemeClr val="dk1"/>
                </a:solidFill>
              </a:rPr>
              <a:t>H2K 1 MHz + Ecoflex</a:t>
            </a:r>
            <a:endParaRPr b="1" sz="916">
              <a:solidFill>
                <a:schemeClr val="dk1"/>
              </a:solidFill>
            </a:endParaRPr>
          </a:p>
        </p:txBody>
      </p:sp>
      <p:sp>
        <p:nvSpPr>
          <p:cNvPr id="359" name="Google Shape;359;p32"/>
          <p:cNvSpPr txBox="1"/>
          <p:nvPr/>
        </p:nvSpPr>
        <p:spPr>
          <a:xfrm>
            <a:off x="3435147" y="855440"/>
            <a:ext cx="193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9800" lIns="59800" spcFirstLastPara="1" rIns="59800" wrap="square" tIns="5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1">
                <a:solidFill>
                  <a:schemeClr val="dk1"/>
                </a:solidFill>
              </a:rPr>
              <a:t>Steminc 1 MHz + Ecoflex + Gel</a:t>
            </a:r>
            <a:endParaRPr b="1" sz="916">
              <a:solidFill>
                <a:schemeClr val="dk1"/>
              </a:solidFill>
            </a:endParaRPr>
          </a:p>
        </p:txBody>
      </p:sp>
      <p:sp>
        <p:nvSpPr>
          <p:cNvPr id="360" name="Google Shape;360;p32"/>
          <p:cNvSpPr txBox="1"/>
          <p:nvPr/>
        </p:nvSpPr>
        <p:spPr>
          <a:xfrm>
            <a:off x="3442475" y="2161987"/>
            <a:ext cx="19884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59800" lIns="59800" spcFirstLastPara="1" rIns="59800" wrap="square" tIns="5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81">
                <a:solidFill>
                  <a:schemeClr val="dk1"/>
                </a:solidFill>
              </a:rPr>
              <a:t>Steminc 1 MHz + Ecoflex</a:t>
            </a:r>
            <a:endParaRPr b="1" sz="916">
              <a:solidFill>
                <a:schemeClr val="dk1"/>
              </a:solidFill>
            </a:endParaRPr>
          </a:p>
        </p:txBody>
      </p:sp>
      <p:sp>
        <p:nvSpPr>
          <p:cNvPr id="361" name="Google Shape;361;p32"/>
          <p:cNvSpPr txBox="1"/>
          <p:nvPr/>
        </p:nvSpPr>
        <p:spPr>
          <a:xfrm>
            <a:off x="2447266" y="2476292"/>
            <a:ext cx="628200" cy="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9800" lIns="59800" spcFirstLastPara="1" rIns="59800" wrap="square" tIns="5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3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공기</a:t>
            </a:r>
            <a:endParaRPr sz="523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4844667" y="2476292"/>
            <a:ext cx="628200" cy="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9800" lIns="59800" spcFirstLastPara="1" rIns="59800" wrap="square" tIns="5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3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공기</a:t>
            </a:r>
            <a:endParaRPr sz="523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2359011" y="1118850"/>
            <a:ext cx="668100" cy="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00" lIns="63600" spcFirstLastPara="1" rIns="63600" wrap="square" tIns="6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7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공기</a:t>
            </a:r>
            <a:endParaRPr sz="557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4" name="Google Shape;364;p32"/>
          <p:cNvSpPr txBox="1"/>
          <p:nvPr/>
        </p:nvSpPr>
        <p:spPr>
          <a:xfrm>
            <a:off x="4759252" y="1118850"/>
            <a:ext cx="668100" cy="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00" lIns="63600" spcFirstLastPara="1" rIns="63600" wrap="square" tIns="6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7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공기</a:t>
            </a:r>
            <a:endParaRPr sz="557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6462850" y="4471250"/>
            <a:ext cx="23130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</a:rPr>
              <a:t>Wang et al. Nat. Biomed. Eng. 2018</a:t>
            </a:r>
            <a:endParaRPr i="1" sz="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solidFill>
                <a:schemeClr val="dk1"/>
              </a:solidFill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790400" y="802625"/>
            <a:ext cx="5010900" cy="26904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"/>
          <p:cNvSpPr/>
          <p:nvPr/>
        </p:nvSpPr>
        <p:spPr>
          <a:xfrm>
            <a:off x="374250" y="750800"/>
            <a:ext cx="4762500" cy="26904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73" name="Google Shape;373;p33"/>
          <p:cNvGrpSpPr/>
          <p:nvPr/>
        </p:nvGrpSpPr>
        <p:grpSpPr>
          <a:xfrm>
            <a:off x="134634" y="-2990"/>
            <a:ext cx="6723471" cy="635759"/>
            <a:chOff x="179512" y="-3986"/>
            <a:chExt cx="8964628" cy="847678"/>
          </a:xfrm>
        </p:grpSpPr>
        <p:sp>
          <p:nvSpPr>
            <p:cNvPr id="374" name="Google Shape;374;p33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6" name="Google Shape;376;p33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33"/>
          <p:cNvSpPr txBox="1"/>
          <p:nvPr/>
        </p:nvSpPr>
        <p:spPr>
          <a:xfrm>
            <a:off x="286304" y="360236"/>
            <a:ext cx="592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실험 4. FCCL 배선 적용에 따른 펄스-에코 성능 변화 검증</a:t>
            </a:r>
            <a:endParaRPr sz="1100"/>
          </a:p>
        </p:txBody>
      </p:sp>
      <p:pic>
        <p:nvPicPr>
          <p:cNvPr id="378" name="Google Shape;378;p33" title="IMG_9792.jpg"/>
          <p:cNvPicPr preferRelativeResize="0"/>
          <p:nvPr/>
        </p:nvPicPr>
        <p:blipFill rotWithShape="1">
          <a:blip r:embed="rId3">
            <a:alphaModFix/>
          </a:blip>
          <a:srcRect b="38381" l="39746" r="37616" t="33659"/>
          <a:stretch/>
        </p:blipFill>
        <p:spPr>
          <a:xfrm>
            <a:off x="3524325" y="3618688"/>
            <a:ext cx="701902" cy="1155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3" title="IMG_9794.jpg"/>
          <p:cNvPicPr preferRelativeResize="0"/>
          <p:nvPr/>
        </p:nvPicPr>
        <p:blipFill rotWithShape="1">
          <a:blip r:embed="rId4">
            <a:alphaModFix/>
          </a:blip>
          <a:srcRect b="0" l="0" r="19035" t="0"/>
          <a:stretch/>
        </p:blipFill>
        <p:spPr>
          <a:xfrm>
            <a:off x="4297975" y="3618688"/>
            <a:ext cx="701902" cy="115588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3220963" y="4723287"/>
            <a:ext cx="1308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725" lIns="57725" spcFirstLastPara="1" rIns="57725" wrap="square" tIns="5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4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Transmit side</a:t>
            </a:r>
            <a:endParaRPr sz="69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4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연결</a:t>
            </a:r>
            <a:endParaRPr sz="69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p33"/>
          <p:cNvSpPr txBox="1"/>
          <p:nvPr/>
        </p:nvSpPr>
        <p:spPr>
          <a:xfrm>
            <a:off x="3994631" y="4723287"/>
            <a:ext cx="1308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725" lIns="57725" spcFirstLastPara="1" rIns="57725" wrap="square" tIns="5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4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 닿는 side</a:t>
            </a:r>
            <a:endParaRPr sz="69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4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+ 연결</a:t>
            </a:r>
            <a:endParaRPr sz="69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82" name="Google Shape;382;p33"/>
          <p:cNvPicPr preferRelativeResize="0"/>
          <p:nvPr/>
        </p:nvPicPr>
        <p:blipFill rotWithShape="1">
          <a:blip r:embed="rId5">
            <a:alphaModFix/>
          </a:blip>
          <a:srcRect b="11565" l="1708" r="34545" t="11078"/>
          <a:stretch/>
        </p:blipFill>
        <p:spPr>
          <a:xfrm>
            <a:off x="596975" y="2203850"/>
            <a:ext cx="1940618" cy="11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3"/>
          <p:cNvPicPr preferRelativeResize="0"/>
          <p:nvPr/>
        </p:nvPicPr>
        <p:blipFill rotWithShape="1">
          <a:blip r:embed="rId6">
            <a:alphaModFix/>
          </a:blip>
          <a:srcRect b="11614" l="1988" r="17839" t="8399"/>
          <a:stretch/>
        </p:blipFill>
        <p:spPr>
          <a:xfrm>
            <a:off x="2983750" y="2203850"/>
            <a:ext cx="1842676" cy="11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3"/>
          <p:cNvSpPr txBox="1"/>
          <p:nvPr/>
        </p:nvSpPr>
        <p:spPr>
          <a:xfrm>
            <a:off x="969975" y="750800"/>
            <a:ext cx="1279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4125" lIns="64125" spcFirstLastPara="1" rIns="64125" wrap="square" tIns="6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2">
                <a:solidFill>
                  <a:schemeClr val="dk1"/>
                </a:solidFill>
              </a:rPr>
              <a:t>Steminc 1 MHz</a:t>
            </a:r>
            <a:endParaRPr b="1" sz="91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2">
                <a:solidFill>
                  <a:schemeClr val="dk1"/>
                </a:solidFill>
              </a:rPr>
              <a:t>기본 wire leads 이용</a:t>
            </a:r>
            <a:endParaRPr b="1" sz="91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12">
              <a:solidFill>
                <a:schemeClr val="dk1"/>
              </a:solidFill>
            </a:endParaRPr>
          </a:p>
        </p:txBody>
      </p:sp>
      <p:pic>
        <p:nvPicPr>
          <p:cNvPr id="385" name="Google Shape;38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24463" y="1364988"/>
            <a:ext cx="1361495" cy="7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3"/>
          <p:cNvSpPr txBox="1"/>
          <p:nvPr/>
        </p:nvSpPr>
        <p:spPr>
          <a:xfrm>
            <a:off x="996575" y="1078450"/>
            <a:ext cx="437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550" lIns="118550" spcFirstLastPara="1" rIns="118550" wrap="square" tIns="11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공기</a:t>
            </a:r>
            <a:endParaRPr sz="637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p33"/>
          <p:cNvSpPr txBox="1"/>
          <p:nvPr/>
        </p:nvSpPr>
        <p:spPr>
          <a:xfrm>
            <a:off x="451272" y="3724225"/>
            <a:ext cx="25194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250" lIns="64250" spcFirstLastPara="1" rIns="64250" wrap="square" tIns="64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•  에코 크기 줄어들었지만 충분한 크기 확보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•  링다운은 비교적 오래 지속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388" name="Google Shape;388;p33"/>
          <p:cNvPicPr preferRelativeResize="0"/>
          <p:nvPr/>
        </p:nvPicPr>
        <p:blipFill rotWithShape="1">
          <a:blip r:embed="rId8">
            <a:alphaModFix/>
          </a:blip>
          <a:srcRect b="0" l="0" r="0" t="17587"/>
          <a:stretch/>
        </p:blipFill>
        <p:spPr>
          <a:xfrm>
            <a:off x="5495075" y="3107425"/>
            <a:ext cx="3309802" cy="17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3"/>
          <p:cNvPicPr preferRelativeResize="0"/>
          <p:nvPr/>
        </p:nvPicPr>
        <p:blipFill rotWithShape="1">
          <a:blip r:embed="rId9">
            <a:alphaModFix/>
          </a:blip>
          <a:srcRect b="0" l="0" r="0" t="11762"/>
          <a:stretch/>
        </p:blipFill>
        <p:spPr>
          <a:xfrm>
            <a:off x="5528550" y="1035225"/>
            <a:ext cx="3066451" cy="195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3"/>
          <p:cNvPicPr preferRelativeResize="0"/>
          <p:nvPr/>
        </p:nvPicPr>
        <p:blipFill rotWithShape="1">
          <a:blip r:embed="rId10">
            <a:alphaModFix/>
          </a:blip>
          <a:srcRect b="0" l="0" r="-16618" t="-16618"/>
          <a:stretch/>
        </p:blipFill>
        <p:spPr>
          <a:xfrm>
            <a:off x="781475" y="1201679"/>
            <a:ext cx="1571625" cy="93301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3"/>
          <p:cNvSpPr txBox="1"/>
          <p:nvPr/>
        </p:nvSpPr>
        <p:spPr>
          <a:xfrm>
            <a:off x="3524325" y="1142300"/>
            <a:ext cx="437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550" lIns="118550" spcFirstLastPara="1" rIns="118550" wrap="square" tIns="11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공기</a:t>
            </a:r>
            <a:endParaRPr sz="637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p33"/>
          <p:cNvSpPr txBox="1"/>
          <p:nvPr/>
        </p:nvSpPr>
        <p:spPr>
          <a:xfrm>
            <a:off x="3155675" y="750800"/>
            <a:ext cx="14913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4125" lIns="64125" spcFirstLastPara="1" rIns="64125" wrap="square" tIns="6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2">
                <a:solidFill>
                  <a:schemeClr val="dk1"/>
                </a:solidFill>
              </a:rPr>
              <a:t>Steminc 1 MHz</a:t>
            </a:r>
            <a:endParaRPr b="1" sz="91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2">
                <a:solidFill>
                  <a:schemeClr val="dk1"/>
                </a:solidFill>
              </a:rPr>
              <a:t>Ag epoxy + FCCL 이용</a:t>
            </a:r>
            <a:endParaRPr b="1" sz="91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1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/>
          <p:nvPr/>
        </p:nvSpPr>
        <p:spPr>
          <a:xfrm>
            <a:off x="134625" y="961150"/>
            <a:ext cx="5846400" cy="27141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99" name="Google Shape;399;p34"/>
          <p:cNvGrpSpPr/>
          <p:nvPr/>
        </p:nvGrpSpPr>
        <p:grpSpPr>
          <a:xfrm>
            <a:off x="134634" y="-2990"/>
            <a:ext cx="6723471" cy="635759"/>
            <a:chOff x="179512" y="-3986"/>
            <a:chExt cx="8964628" cy="847678"/>
          </a:xfrm>
        </p:grpSpPr>
        <p:sp>
          <p:nvSpPr>
            <p:cNvPr id="400" name="Google Shape;400;p34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2" name="Google Shape;402;p34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3" name="Google Shape;403;p34"/>
          <p:cNvSpPr txBox="1"/>
          <p:nvPr/>
        </p:nvSpPr>
        <p:spPr>
          <a:xfrm>
            <a:off x="286300" y="360225"/>
            <a:ext cx="74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실험 5. 다양한 공진주파수에서의 FCCL 배선 적용 및 실험 가능성 검증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3941723" y="961150"/>
            <a:ext cx="214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Steminc 3.8 MHz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418326" y="961150"/>
            <a:ext cx="137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Steminc 5 MHz S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406" name="Google Shape;406;p34"/>
          <p:cNvPicPr preferRelativeResize="0"/>
          <p:nvPr/>
        </p:nvPicPr>
        <p:blipFill rotWithShape="1">
          <a:blip r:embed="rId3">
            <a:alphaModFix/>
          </a:blip>
          <a:srcRect b="12410" l="2877" r="16750" t="8694"/>
          <a:stretch/>
        </p:blipFill>
        <p:spPr>
          <a:xfrm>
            <a:off x="230775" y="2457375"/>
            <a:ext cx="1788724" cy="110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4"/>
          <p:cNvPicPr preferRelativeResize="0"/>
          <p:nvPr/>
        </p:nvPicPr>
        <p:blipFill rotWithShape="1">
          <a:blip r:embed="rId4">
            <a:alphaModFix/>
          </a:blip>
          <a:srcRect b="12410" l="1468" r="16504" t="8694"/>
          <a:stretch/>
        </p:blipFill>
        <p:spPr>
          <a:xfrm>
            <a:off x="2146427" y="2457375"/>
            <a:ext cx="1825474" cy="110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4"/>
          <p:cNvPicPr preferRelativeResize="0"/>
          <p:nvPr/>
        </p:nvPicPr>
        <p:blipFill rotWithShape="1">
          <a:blip r:embed="rId5">
            <a:alphaModFix/>
          </a:blip>
          <a:srcRect b="13527" l="2577" r="17627" t="6716"/>
          <a:stretch/>
        </p:blipFill>
        <p:spPr>
          <a:xfrm>
            <a:off x="4143924" y="2462338"/>
            <a:ext cx="1740900" cy="109406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4"/>
          <p:cNvSpPr txBox="1"/>
          <p:nvPr/>
        </p:nvSpPr>
        <p:spPr>
          <a:xfrm>
            <a:off x="2188715" y="961150"/>
            <a:ext cx="174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Steminc 5 MHz R</a:t>
            </a:r>
            <a:endParaRPr b="1" sz="1000">
              <a:solidFill>
                <a:schemeClr val="dk1"/>
              </a:solidFill>
            </a:endParaRPr>
          </a:p>
        </p:txBody>
      </p:sp>
      <p:pic>
        <p:nvPicPr>
          <p:cNvPr id="410" name="Google Shape;410;p34" title="IMG_9940.jpg"/>
          <p:cNvPicPr preferRelativeResize="0"/>
          <p:nvPr/>
        </p:nvPicPr>
        <p:blipFill rotWithShape="1">
          <a:blip r:embed="rId6">
            <a:alphaModFix/>
          </a:blip>
          <a:srcRect b="15272" l="22132" r="22132" t="13927"/>
          <a:stretch/>
        </p:blipFill>
        <p:spPr>
          <a:xfrm>
            <a:off x="538925" y="1268950"/>
            <a:ext cx="1130100" cy="10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4" title="IMG_9947.jpg"/>
          <p:cNvPicPr preferRelativeResize="0"/>
          <p:nvPr/>
        </p:nvPicPr>
        <p:blipFill rotWithShape="1">
          <a:blip r:embed="rId7">
            <a:alphaModFix/>
          </a:blip>
          <a:srcRect b="18066" l="24749" r="25010" t="18073"/>
          <a:stretch/>
        </p:blipFill>
        <p:spPr>
          <a:xfrm>
            <a:off x="2494125" y="1268950"/>
            <a:ext cx="1130100" cy="10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4" title="IMG_9952.jpg"/>
          <p:cNvPicPr preferRelativeResize="0"/>
          <p:nvPr/>
        </p:nvPicPr>
        <p:blipFill rotWithShape="1">
          <a:blip r:embed="rId8">
            <a:alphaModFix/>
          </a:blip>
          <a:srcRect b="16190" l="21125" r="25771" t="16298"/>
          <a:stretch/>
        </p:blipFill>
        <p:spPr>
          <a:xfrm>
            <a:off x="4449325" y="1268950"/>
            <a:ext cx="1130101" cy="10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4"/>
          <p:cNvPicPr preferRelativeResize="0"/>
          <p:nvPr/>
        </p:nvPicPr>
        <p:blipFill rotWithShape="1">
          <a:blip r:embed="rId9">
            <a:alphaModFix/>
          </a:blip>
          <a:srcRect b="0" l="0" r="49713" t="8391"/>
          <a:stretch/>
        </p:blipFill>
        <p:spPr>
          <a:xfrm>
            <a:off x="6136375" y="961142"/>
            <a:ext cx="2744474" cy="190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4"/>
          <p:cNvPicPr preferRelativeResize="0"/>
          <p:nvPr/>
        </p:nvPicPr>
        <p:blipFill rotWithShape="1">
          <a:blip r:embed="rId9">
            <a:alphaModFix/>
          </a:blip>
          <a:srcRect b="0" l="49457" r="0" t="7927"/>
          <a:stretch/>
        </p:blipFill>
        <p:spPr>
          <a:xfrm>
            <a:off x="6136400" y="2997825"/>
            <a:ext cx="2744448" cy="19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4"/>
          <p:cNvSpPr txBox="1"/>
          <p:nvPr/>
        </p:nvSpPr>
        <p:spPr>
          <a:xfrm>
            <a:off x="418325" y="4077650"/>
            <a:ext cx="50295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에코 크기는 작으나, 1차 에코 기준 충분한 성능 확인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당분간 Ag epoxy를 이용한 저온 배선 연결 공정 적용 가능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•  배선으로 인한 단차 및 송수신 성능 저하 문제 추가 관찰 예정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416" name="Google Shape;416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43925" y="4077649"/>
            <a:ext cx="1460880" cy="809851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 txBox="1"/>
          <p:nvPr/>
        </p:nvSpPr>
        <p:spPr>
          <a:xfrm>
            <a:off x="4393053" y="3877450"/>
            <a:ext cx="357900" cy="1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75" lIns="96975" spcFirstLastPara="1" rIns="96975" wrap="square" tIns="9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3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공기</a:t>
            </a:r>
            <a:endParaRPr sz="603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4666325" y="4428050"/>
            <a:ext cx="280800" cy="186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35"/>
          <p:cNvGrpSpPr/>
          <p:nvPr/>
        </p:nvGrpSpPr>
        <p:grpSpPr>
          <a:xfrm>
            <a:off x="134634" y="-2990"/>
            <a:ext cx="6723471" cy="635759"/>
            <a:chOff x="179512" y="-3986"/>
            <a:chExt cx="8964628" cy="847678"/>
          </a:xfrm>
        </p:grpSpPr>
        <p:sp>
          <p:nvSpPr>
            <p:cNvPr id="425" name="Google Shape;425;p35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7" name="Google Shape;427;p35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35"/>
          <p:cNvSpPr txBox="1"/>
          <p:nvPr/>
        </p:nvSpPr>
        <p:spPr>
          <a:xfrm>
            <a:off x="286300" y="360225"/>
            <a:ext cx="74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실험 5. 다양한 공진주파수에서의 FCCL 배선 적용 및 실험 가능성 검증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29" name="Google Shape;4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25" y="1033350"/>
            <a:ext cx="4336951" cy="28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5"/>
          <p:cNvSpPr txBox="1"/>
          <p:nvPr/>
        </p:nvSpPr>
        <p:spPr>
          <a:xfrm>
            <a:off x="980500" y="3763513"/>
            <a:ext cx="30000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</a:rPr>
              <a:t>Wang et al. Nat. Biomed. Eng. 2018</a:t>
            </a:r>
            <a:endParaRPr i="1" sz="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solidFill>
                <a:schemeClr val="dk1"/>
              </a:solidFill>
            </a:endParaRPr>
          </a:p>
        </p:txBody>
      </p:sp>
      <p:pic>
        <p:nvPicPr>
          <p:cNvPr id="431" name="Google Shape;431;p35"/>
          <p:cNvPicPr preferRelativeResize="0"/>
          <p:nvPr/>
        </p:nvPicPr>
        <p:blipFill rotWithShape="1">
          <a:blip r:embed="rId4">
            <a:alphaModFix/>
          </a:blip>
          <a:srcRect b="0" l="9303" r="44503" t="12404"/>
          <a:stretch/>
        </p:blipFill>
        <p:spPr>
          <a:xfrm>
            <a:off x="5151275" y="1258903"/>
            <a:ext cx="2919250" cy="25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6"/>
          <p:cNvSpPr/>
          <p:nvPr/>
        </p:nvSpPr>
        <p:spPr>
          <a:xfrm>
            <a:off x="134625" y="828475"/>
            <a:ext cx="5800200" cy="42063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38" name="Google Shape;438;p36"/>
          <p:cNvGrpSpPr/>
          <p:nvPr/>
        </p:nvGrpSpPr>
        <p:grpSpPr>
          <a:xfrm>
            <a:off x="134634" y="-2989"/>
            <a:ext cx="6723471" cy="635759"/>
            <a:chOff x="179512" y="-3986"/>
            <a:chExt cx="8964628" cy="847678"/>
          </a:xfrm>
        </p:grpSpPr>
        <p:sp>
          <p:nvSpPr>
            <p:cNvPr id="439" name="Google Shape;439;p36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1" name="Google Shape;441;p36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초기 어레이 설계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2" name="Google Shape;442;p36"/>
          <p:cNvPicPr preferRelativeResize="0"/>
          <p:nvPr/>
        </p:nvPicPr>
        <p:blipFill rotWithShape="1">
          <a:blip r:embed="rId3">
            <a:alphaModFix/>
          </a:blip>
          <a:srcRect b="23873" l="0" r="0" t="0"/>
          <a:stretch/>
        </p:blipFill>
        <p:spPr>
          <a:xfrm>
            <a:off x="6091001" y="735426"/>
            <a:ext cx="2864149" cy="207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6"/>
          <p:cNvSpPr txBox="1"/>
          <p:nvPr/>
        </p:nvSpPr>
        <p:spPr>
          <a:xfrm>
            <a:off x="2146875" y="975938"/>
            <a:ext cx="1775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[Side View]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444" name="Google Shape;444;p36"/>
          <p:cNvPicPr preferRelativeResize="0"/>
          <p:nvPr/>
        </p:nvPicPr>
        <p:blipFill rotWithShape="1">
          <a:blip r:embed="rId4">
            <a:alphaModFix/>
          </a:blip>
          <a:srcRect b="0" l="11363" r="0" t="10354"/>
          <a:stretch/>
        </p:blipFill>
        <p:spPr>
          <a:xfrm rot="-5">
            <a:off x="464475" y="1250659"/>
            <a:ext cx="972600" cy="737728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6"/>
          <p:cNvSpPr/>
          <p:nvPr/>
        </p:nvSpPr>
        <p:spPr>
          <a:xfrm>
            <a:off x="2893450" y="1480825"/>
            <a:ext cx="1183800" cy="49800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1404575" y="2185963"/>
            <a:ext cx="1096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FPC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PI-Cu-PI 양면 절연,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양쪽 연결부만 노출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47" name="Google Shape;447;p36"/>
          <p:cNvSpPr/>
          <p:nvPr/>
        </p:nvSpPr>
        <p:spPr>
          <a:xfrm>
            <a:off x="1795800" y="1893675"/>
            <a:ext cx="1714500" cy="363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8" name="Google Shape;448;p36"/>
          <p:cNvSpPr/>
          <p:nvPr/>
        </p:nvSpPr>
        <p:spPr>
          <a:xfrm>
            <a:off x="1795800" y="1601375"/>
            <a:ext cx="1714500" cy="363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p36"/>
          <p:cNvSpPr/>
          <p:nvPr/>
        </p:nvSpPr>
        <p:spPr>
          <a:xfrm>
            <a:off x="1898400" y="1846175"/>
            <a:ext cx="1386900" cy="153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p36"/>
          <p:cNvSpPr/>
          <p:nvPr/>
        </p:nvSpPr>
        <p:spPr>
          <a:xfrm>
            <a:off x="1898400" y="1674475"/>
            <a:ext cx="1386900" cy="153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p36"/>
          <p:cNvSpPr/>
          <p:nvPr/>
        </p:nvSpPr>
        <p:spPr>
          <a:xfrm>
            <a:off x="3386525" y="1821000"/>
            <a:ext cx="123900" cy="7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2" name="Google Shape;452;p36"/>
          <p:cNvSpPr/>
          <p:nvPr/>
        </p:nvSpPr>
        <p:spPr>
          <a:xfrm>
            <a:off x="1795800" y="1861475"/>
            <a:ext cx="1698900" cy="32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3" name="Google Shape;453;p36"/>
          <p:cNvSpPr/>
          <p:nvPr/>
        </p:nvSpPr>
        <p:spPr>
          <a:xfrm>
            <a:off x="3386525" y="1638175"/>
            <a:ext cx="123900" cy="5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36"/>
          <p:cNvSpPr/>
          <p:nvPr/>
        </p:nvSpPr>
        <p:spPr>
          <a:xfrm>
            <a:off x="1795800" y="1633125"/>
            <a:ext cx="1698900" cy="41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5" name="Google Shape;455;p36"/>
          <p:cNvSpPr/>
          <p:nvPr/>
        </p:nvSpPr>
        <p:spPr>
          <a:xfrm>
            <a:off x="3410200" y="1697437"/>
            <a:ext cx="342000" cy="138600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56" name="Google Shape;456;p36"/>
          <p:cNvCxnSpPr/>
          <p:nvPr/>
        </p:nvCxnSpPr>
        <p:spPr>
          <a:xfrm flipH="1">
            <a:off x="3933925" y="1398775"/>
            <a:ext cx="62040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7" name="Google Shape;457;p36"/>
          <p:cNvSpPr txBox="1"/>
          <p:nvPr/>
        </p:nvSpPr>
        <p:spPr>
          <a:xfrm>
            <a:off x="4549375" y="1210425"/>
            <a:ext cx="13869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Ecoflex / PDMS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58" name="Google Shape;458;p36"/>
          <p:cNvSpPr txBox="1"/>
          <p:nvPr/>
        </p:nvSpPr>
        <p:spPr>
          <a:xfrm>
            <a:off x="4549375" y="1446925"/>
            <a:ext cx="10695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Steminc 3.8 MHz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3×3</a:t>
            </a:r>
            <a:r>
              <a:rPr lang="en" sz="800">
                <a:solidFill>
                  <a:schemeClr val="dk1"/>
                </a:solidFill>
              </a:rPr>
              <a:t>×0.55 </a:t>
            </a:r>
            <a:r>
              <a:rPr lang="en" sz="800">
                <a:solidFill>
                  <a:schemeClr val="dk1"/>
                </a:solidFill>
              </a:rPr>
              <a:t>mm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2776850" y="1962175"/>
            <a:ext cx="1399800" cy="82200"/>
          </a:xfrm>
          <a:prstGeom prst="rect">
            <a:avLst/>
          </a:prstGeom>
          <a:solidFill>
            <a:srgbClr val="97D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2572875" y="2017463"/>
            <a:ext cx="1814400" cy="555300"/>
          </a:xfrm>
          <a:prstGeom prst="rect">
            <a:avLst/>
          </a:prstGeom>
          <a:gradFill>
            <a:gsLst>
              <a:gs pos="0">
                <a:srgbClr val="C9C9C9">
                  <a:alpha val="3137"/>
                </a:srgbClr>
              </a:gs>
              <a:gs pos="100000">
                <a:srgbClr val="FCE5CD"/>
              </a:gs>
            </a:gsLst>
            <a:lin ang="1619866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61" name="Google Shape;461;p36"/>
          <p:cNvCxnSpPr>
            <a:stCxn id="458" idx="1"/>
          </p:cNvCxnSpPr>
          <p:nvPr/>
        </p:nvCxnSpPr>
        <p:spPr>
          <a:xfrm flipH="1">
            <a:off x="3688675" y="1745125"/>
            <a:ext cx="8607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36"/>
          <p:cNvCxnSpPr>
            <a:stCxn id="463" idx="1"/>
          </p:cNvCxnSpPr>
          <p:nvPr/>
        </p:nvCxnSpPr>
        <p:spPr>
          <a:xfrm rot="10800000">
            <a:off x="3503875" y="1850425"/>
            <a:ext cx="1045500" cy="12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3" name="Google Shape;463;p36"/>
          <p:cNvSpPr txBox="1"/>
          <p:nvPr/>
        </p:nvSpPr>
        <p:spPr>
          <a:xfrm>
            <a:off x="4549375" y="1836025"/>
            <a:ext cx="13869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Ag epoxy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64" name="Google Shape;464;p36"/>
          <p:cNvSpPr txBox="1"/>
          <p:nvPr/>
        </p:nvSpPr>
        <p:spPr>
          <a:xfrm>
            <a:off x="4540450" y="2365275"/>
            <a:ext cx="15573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Skin / tissue</a:t>
            </a:r>
            <a:r>
              <a:rPr lang="en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465" name="Google Shape;465;p36"/>
          <p:cNvSpPr txBox="1"/>
          <p:nvPr/>
        </p:nvSpPr>
        <p:spPr>
          <a:xfrm>
            <a:off x="4540450" y="2080900"/>
            <a:ext cx="15573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Ultrasound gel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466" name="Google Shape;466;p36"/>
          <p:cNvCxnSpPr/>
          <p:nvPr/>
        </p:nvCxnSpPr>
        <p:spPr>
          <a:xfrm flipH="1">
            <a:off x="4136000" y="2518175"/>
            <a:ext cx="4695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7" name="Google Shape;467;p36"/>
          <p:cNvCxnSpPr>
            <a:stCxn id="465" idx="1"/>
          </p:cNvCxnSpPr>
          <p:nvPr/>
        </p:nvCxnSpPr>
        <p:spPr>
          <a:xfrm rot="10800000">
            <a:off x="3886750" y="2001850"/>
            <a:ext cx="653700" cy="2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8" name="Google Shape;468;p36"/>
          <p:cNvCxnSpPr/>
          <p:nvPr/>
        </p:nvCxnSpPr>
        <p:spPr>
          <a:xfrm flipH="1" rot="10800000">
            <a:off x="2022875" y="1918425"/>
            <a:ext cx="354000" cy="3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9" name="Google Shape;469;p36"/>
          <p:cNvCxnSpPr/>
          <p:nvPr/>
        </p:nvCxnSpPr>
        <p:spPr>
          <a:xfrm flipH="1">
            <a:off x="1492600" y="1771700"/>
            <a:ext cx="2748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0" name="Google Shape;470;p36"/>
          <p:cNvSpPr txBox="1"/>
          <p:nvPr/>
        </p:nvSpPr>
        <p:spPr>
          <a:xfrm>
            <a:off x="668500" y="2987263"/>
            <a:ext cx="1775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[Top</a:t>
            </a:r>
            <a:r>
              <a:rPr b="1" lang="en" sz="1000">
                <a:solidFill>
                  <a:schemeClr val="dk1"/>
                </a:solidFill>
              </a:rPr>
              <a:t> View]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71" name="Google Shape;471;p36"/>
          <p:cNvSpPr txBox="1"/>
          <p:nvPr/>
        </p:nvSpPr>
        <p:spPr>
          <a:xfrm>
            <a:off x="371700" y="1854063"/>
            <a:ext cx="1096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FFC/FPC 커넥터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472" name="Google Shape;472;p36"/>
          <p:cNvGrpSpPr/>
          <p:nvPr/>
        </p:nvGrpSpPr>
        <p:grpSpPr>
          <a:xfrm>
            <a:off x="668505" y="3339909"/>
            <a:ext cx="1698930" cy="1574191"/>
            <a:chOff x="325850" y="3285629"/>
            <a:chExt cx="1894225" cy="1755146"/>
          </a:xfrm>
        </p:grpSpPr>
        <p:sp>
          <p:nvSpPr>
            <p:cNvPr id="473" name="Google Shape;473;p36"/>
            <p:cNvSpPr/>
            <p:nvPr/>
          </p:nvSpPr>
          <p:spPr>
            <a:xfrm>
              <a:off x="888500" y="3585027"/>
              <a:ext cx="220500" cy="213600"/>
            </a:xfrm>
            <a:prstGeom prst="rect">
              <a:avLst/>
            </a:prstGeom>
            <a:solidFill>
              <a:srgbClr val="7B7B7B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965075" y="3728750"/>
              <a:ext cx="62400" cy="72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5" name="Google Shape;475;p36"/>
            <p:cNvSpPr/>
            <p:nvPr/>
          </p:nvSpPr>
          <p:spPr>
            <a:xfrm rot="5400000">
              <a:off x="694700" y="4037900"/>
              <a:ext cx="609300" cy="348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607175" y="3585027"/>
              <a:ext cx="220500" cy="213600"/>
            </a:xfrm>
            <a:prstGeom prst="rect">
              <a:avLst/>
            </a:prstGeom>
            <a:solidFill>
              <a:srgbClr val="7B7B7B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683750" y="3728750"/>
              <a:ext cx="62400" cy="72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8" name="Google Shape;478;p36"/>
            <p:cNvSpPr/>
            <p:nvPr/>
          </p:nvSpPr>
          <p:spPr>
            <a:xfrm rot="5400000">
              <a:off x="408575" y="4041500"/>
              <a:ext cx="617700" cy="360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325850" y="3585027"/>
              <a:ext cx="220500" cy="213600"/>
            </a:xfrm>
            <a:prstGeom prst="rect">
              <a:avLst/>
            </a:prstGeom>
            <a:solidFill>
              <a:srgbClr val="7B7B7B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402425" y="3728750"/>
              <a:ext cx="62400" cy="72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1" name="Google Shape;481;p36"/>
            <p:cNvSpPr/>
            <p:nvPr/>
          </p:nvSpPr>
          <p:spPr>
            <a:xfrm rot="5400000">
              <a:off x="127250" y="4041500"/>
              <a:ext cx="617700" cy="360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1999575" y="3585027"/>
              <a:ext cx="220500" cy="213600"/>
            </a:xfrm>
            <a:prstGeom prst="rect">
              <a:avLst/>
            </a:prstGeom>
            <a:solidFill>
              <a:srgbClr val="7B7B7B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2076150" y="3728750"/>
              <a:ext cx="62400" cy="72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4" name="Google Shape;484;p36"/>
            <p:cNvSpPr/>
            <p:nvPr/>
          </p:nvSpPr>
          <p:spPr>
            <a:xfrm rot="5400000">
              <a:off x="1800975" y="4041500"/>
              <a:ext cx="617700" cy="360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5" name="Google Shape;485;p36"/>
            <p:cNvSpPr/>
            <p:nvPr/>
          </p:nvSpPr>
          <p:spPr>
            <a:xfrm rot="5400000">
              <a:off x="1233550" y="4817975"/>
              <a:ext cx="407100" cy="384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6" name="Google Shape;486;p36"/>
            <p:cNvSpPr/>
            <p:nvPr/>
          </p:nvSpPr>
          <p:spPr>
            <a:xfrm rot="5400000">
              <a:off x="1035350" y="4782625"/>
              <a:ext cx="481200" cy="351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7" name="Google Shape;487;p36"/>
            <p:cNvSpPr/>
            <p:nvPr/>
          </p:nvSpPr>
          <p:spPr>
            <a:xfrm rot="5400000">
              <a:off x="947375" y="4781125"/>
              <a:ext cx="475800" cy="327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8" name="Google Shape;488;p36"/>
            <p:cNvSpPr/>
            <p:nvPr/>
          </p:nvSpPr>
          <p:spPr>
            <a:xfrm rot="5400000">
              <a:off x="902175" y="4825625"/>
              <a:ext cx="379500" cy="402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9" name="Google Shape;489;p36"/>
            <p:cNvSpPr/>
            <p:nvPr/>
          </p:nvSpPr>
          <p:spPr>
            <a:xfrm rot="9361411">
              <a:off x="1394750" y="4486366"/>
              <a:ext cx="748594" cy="40695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0" name="Google Shape;490;p36"/>
            <p:cNvSpPr/>
            <p:nvPr/>
          </p:nvSpPr>
          <p:spPr>
            <a:xfrm rot="-9296738">
              <a:off x="393088" y="4494202"/>
              <a:ext cx="748091" cy="4119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1" name="Google Shape;491;p36"/>
            <p:cNvSpPr/>
            <p:nvPr/>
          </p:nvSpPr>
          <p:spPr>
            <a:xfrm rot="-9296864">
              <a:off x="690103" y="4452315"/>
              <a:ext cx="528522" cy="3342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2" name="Google Shape;492;p36"/>
            <p:cNvSpPr/>
            <p:nvPr/>
          </p:nvSpPr>
          <p:spPr>
            <a:xfrm rot="-8570241">
              <a:off x="957664" y="4443885"/>
              <a:ext cx="364025" cy="3408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6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3" name="Google Shape;493;p36"/>
            <p:cNvSpPr txBox="1"/>
            <p:nvPr/>
          </p:nvSpPr>
          <p:spPr>
            <a:xfrm>
              <a:off x="1344425" y="3688325"/>
              <a:ext cx="419700" cy="4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000" lIns="82000" spcFirstLastPara="1" rIns="82000" wrap="square" tIns="82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7">
                  <a:solidFill>
                    <a:schemeClr val="dk1"/>
                  </a:solidFill>
                </a:rPr>
                <a:t>. . . </a:t>
              </a:r>
              <a:endParaRPr sz="718">
                <a:solidFill>
                  <a:schemeClr val="dk1"/>
                </a:solidFill>
              </a:endParaRPr>
            </a:p>
          </p:txBody>
        </p:sp>
        <p:sp>
          <p:nvSpPr>
            <p:cNvPr id="494" name="Google Shape;494;p36"/>
            <p:cNvSpPr txBox="1"/>
            <p:nvPr/>
          </p:nvSpPr>
          <p:spPr>
            <a:xfrm>
              <a:off x="427904" y="3285629"/>
              <a:ext cx="1775700" cy="4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000" lIns="82000" spcFirstLastPara="1" rIns="82000" wrap="square" tIns="8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97">
                  <a:solidFill>
                    <a:schemeClr val="dk1"/>
                  </a:solidFill>
                </a:rPr>
                <a:t>8 channels</a:t>
              </a:r>
              <a:endParaRPr sz="897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18">
                <a:solidFill>
                  <a:schemeClr val="dk1"/>
                </a:solidFill>
              </a:endParaRPr>
            </a:p>
          </p:txBody>
        </p:sp>
      </p:grpSp>
      <p:cxnSp>
        <p:nvCxnSpPr>
          <p:cNvPr id="495" name="Google Shape;495;p36"/>
          <p:cNvCxnSpPr/>
          <p:nvPr/>
        </p:nvCxnSpPr>
        <p:spPr>
          <a:xfrm rot="10800000">
            <a:off x="668500" y="3497225"/>
            <a:ext cx="35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6" name="Google Shape;496;p36"/>
          <p:cNvCxnSpPr/>
          <p:nvPr/>
        </p:nvCxnSpPr>
        <p:spPr>
          <a:xfrm flipH="1">
            <a:off x="2071175" y="3496925"/>
            <a:ext cx="3186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97" name="Google Shape;497;p36"/>
          <p:cNvSpPr txBox="1"/>
          <p:nvPr/>
        </p:nvSpPr>
        <p:spPr>
          <a:xfrm>
            <a:off x="6012925" y="2752463"/>
            <a:ext cx="30000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</a:rPr>
              <a:t>Wang</a:t>
            </a:r>
            <a:r>
              <a:rPr i="1" lang="en" sz="700">
                <a:solidFill>
                  <a:schemeClr val="dk1"/>
                </a:solidFill>
              </a:rPr>
              <a:t> et al. Nat. Biomed. Eng. 2018</a:t>
            </a:r>
            <a:endParaRPr i="1" sz="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solidFill>
                <a:schemeClr val="dk1"/>
              </a:solidFill>
            </a:endParaRPr>
          </a:p>
        </p:txBody>
      </p:sp>
      <p:cxnSp>
        <p:nvCxnSpPr>
          <p:cNvPr id="498" name="Google Shape;498;p36"/>
          <p:cNvCxnSpPr/>
          <p:nvPr/>
        </p:nvCxnSpPr>
        <p:spPr>
          <a:xfrm flipH="1" rot="10800000">
            <a:off x="2016775" y="1687050"/>
            <a:ext cx="211200" cy="57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36"/>
          <p:cNvSpPr txBox="1"/>
          <p:nvPr/>
        </p:nvSpPr>
        <p:spPr>
          <a:xfrm>
            <a:off x="2924713" y="2987275"/>
            <a:ext cx="4031400" cy="20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[Capabilities]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8</a:t>
            </a:r>
            <a:r>
              <a:rPr lang="en" sz="1000">
                <a:solidFill>
                  <a:schemeClr val="dk1"/>
                </a:solidFill>
              </a:rPr>
              <a:t>채널</a:t>
            </a:r>
            <a:r>
              <a:rPr lang="en" sz="1000">
                <a:solidFill>
                  <a:schemeClr val="dk1"/>
                </a:solidFill>
              </a:rPr>
              <a:t> 1D </a:t>
            </a:r>
            <a:r>
              <a:rPr lang="en" sz="1000">
                <a:solidFill>
                  <a:schemeClr val="dk1"/>
                </a:solidFill>
              </a:rPr>
              <a:t>어레이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•  A-mode, B-mode, M-mode </a:t>
            </a:r>
            <a:r>
              <a:rPr lang="en" sz="1000">
                <a:solidFill>
                  <a:schemeClr val="dk1"/>
                </a:solidFill>
              </a:rPr>
              <a:t>가능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[Future Development]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•  공간 해상도 향상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•  Composite 소자 적용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    → 하우징, 매칭, 배킹 구조 재최적화 필요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•  소자-배선 연결부 기계적 견고성 향상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•  소형화를 위한 Cu/PI 패터닝 방안 모색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500" name="Google Shape;50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4213" y="3111050"/>
            <a:ext cx="2237425" cy="167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6"/>
          <p:cNvSpPr txBox="1"/>
          <p:nvPr/>
        </p:nvSpPr>
        <p:spPr>
          <a:xfrm>
            <a:off x="6012925" y="4727100"/>
            <a:ext cx="30000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</a:rPr>
              <a:t>Brachytherapy Needle Steering Guidance Using Image Overlay. Handbook of Research on Biomimetics and Biomedical Robotics 2018 </a:t>
            </a:r>
            <a:endParaRPr i="1"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7"/>
          <p:cNvSpPr/>
          <p:nvPr/>
        </p:nvSpPr>
        <p:spPr>
          <a:xfrm>
            <a:off x="276850" y="880875"/>
            <a:ext cx="5958000" cy="40830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08" name="Google Shape;508;p37"/>
          <p:cNvGrpSpPr/>
          <p:nvPr/>
        </p:nvGrpSpPr>
        <p:grpSpPr>
          <a:xfrm>
            <a:off x="134634" y="-2989"/>
            <a:ext cx="6723446" cy="635684"/>
            <a:chOff x="179512" y="-3986"/>
            <a:chExt cx="8964595" cy="847578"/>
          </a:xfrm>
        </p:grpSpPr>
        <p:sp>
          <p:nvSpPr>
            <p:cNvPr id="509" name="Google Shape;509;p37"/>
            <p:cNvSpPr txBox="1"/>
            <p:nvPr/>
          </p:nvSpPr>
          <p:spPr>
            <a:xfrm>
              <a:off x="381707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1" name="Google Shape;511;p37"/>
            <p:cNvSpPr txBox="1"/>
            <p:nvPr/>
          </p:nvSpPr>
          <p:spPr>
            <a:xfrm>
              <a:off x="381706" y="5420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초기 </a:t>
              </a:r>
              <a:r>
                <a:rPr lang="en" sz="1800">
                  <a:solidFill>
                    <a:schemeClr val="dk1"/>
                  </a:solidFill>
                </a:rPr>
                <a:t>회로</a:t>
              </a:r>
              <a:r>
                <a:rPr lang="en" sz="1800">
                  <a:solidFill>
                    <a:schemeClr val="dk1"/>
                  </a:solidFill>
                </a:rPr>
                <a:t> </a:t>
              </a:r>
              <a:r>
                <a:rPr lang="en" sz="1800">
                  <a:solidFill>
                    <a:schemeClr val="dk1"/>
                  </a:solidFill>
                </a:rPr>
                <a:t>설계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2" name="Google Shape;512;p37"/>
          <p:cNvSpPr txBox="1"/>
          <p:nvPr/>
        </p:nvSpPr>
        <p:spPr>
          <a:xfrm>
            <a:off x="6188425" y="4682238"/>
            <a:ext cx="30000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</a:rPr>
              <a:t>Lin</a:t>
            </a:r>
            <a:r>
              <a:rPr i="1" lang="en" sz="700">
                <a:solidFill>
                  <a:schemeClr val="dk1"/>
                </a:solidFill>
              </a:rPr>
              <a:t> et al. Nat. Biotech. 2023</a:t>
            </a:r>
            <a:endParaRPr i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solidFill>
                <a:schemeClr val="dk1"/>
              </a:solidFill>
            </a:endParaRPr>
          </a:p>
        </p:txBody>
      </p:sp>
      <p:pic>
        <p:nvPicPr>
          <p:cNvPr id="513" name="Google Shape;5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5700" y="927351"/>
            <a:ext cx="2012924" cy="12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5700" y="2220674"/>
            <a:ext cx="2125450" cy="2501601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7"/>
          <p:cNvSpPr txBox="1"/>
          <p:nvPr/>
        </p:nvSpPr>
        <p:spPr>
          <a:xfrm>
            <a:off x="3282925" y="3623500"/>
            <a:ext cx="31959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[Future Development]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병목 구간 분석 및 개선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•  무선화 구현(전력 공급, 데이터 송수신)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516" name="Google Shape;516;p37"/>
          <p:cNvCxnSpPr>
            <a:stCxn id="517" idx="1"/>
          </p:cNvCxnSpPr>
          <p:nvPr/>
        </p:nvCxnSpPr>
        <p:spPr>
          <a:xfrm rot="10800000">
            <a:off x="1813350" y="1323250"/>
            <a:ext cx="296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8" name="Google Shape;518;p37"/>
          <p:cNvGrpSpPr/>
          <p:nvPr/>
        </p:nvGrpSpPr>
        <p:grpSpPr>
          <a:xfrm>
            <a:off x="445400" y="1173700"/>
            <a:ext cx="5864975" cy="2259100"/>
            <a:chOff x="375100" y="587150"/>
            <a:chExt cx="5864975" cy="2259100"/>
          </a:xfrm>
        </p:grpSpPr>
        <p:sp>
          <p:nvSpPr>
            <p:cNvPr id="519" name="Google Shape;519;p37"/>
            <p:cNvSpPr txBox="1"/>
            <p:nvPr/>
          </p:nvSpPr>
          <p:spPr>
            <a:xfrm>
              <a:off x="375100" y="1380475"/>
              <a:ext cx="458400" cy="30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PC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20" name="Google Shape;520;p37"/>
            <p:cNvSpPr txBox="1"/>
            <p:nvPr/>
          </p:nvSpPr>
          <p:spPr>
            <a:xfrm>
              <a:off x="1415325" y="1380475"/>
              <a:ext cx="647100" cy="30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STM32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21" name="Google Shape;521;p37"/>
            <p:cNvSpPr txBox="1"/>
            <p:nvPr/>
          </p:nvSpPr>
          <p:spPr>
            <a:xfrm>
              <a:off x="2590800" y="1380475"/>
              <a:ext cx="835500" cy="30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고전압 펄서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22" name="Google Shape;522;p37"/>
            <p:cNvSpPr txBox="1"/>
            <p:nvPr/>
          </p:nvSpPr>
          <p:spPr>
            <a:xfrm>
              <a:off x="3766250" y="1380475"/>
              <a:ext cx="835500" cy="30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멀티플렉서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23" name="Google Shape;523;p37"/>
            <p:cNvSpPr/>
            <p:nvPr/>
          </p:nvSpPr>
          <p:spPr>
            <a:xfrm rot="5400000">
              <a:off x="5742455" y="1792057"/>
              <a:ext cx="114600" cy="111000"/>
            </a:xfrm>
            <a:prstGeom prst="rect">
              <a:avLst/>
            </a:prstGeom>
            <a:solidFill>
              <a:srgbClr val="7B7B7B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4" name="Google Shape;524;p37"/>
            <p:cNvSpPr/>
            <p:nvPr/>
          </p:nvSpPr>
          <p:spPr>
            <a:xfrm rot="5400000">
              <a:off x="5745514" y="1827325"/>
              <a:ext cx="32400" cy="3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5" name="Google Shape;525;p37"/>
            <p:cNvSpPr/>
            <p:nvPr/>
          </p:nvSpPr>
          <p:spPr>
            <a:xfrm rot="10800000">
              <a:off x="5452740" y="1838862"/>
              <a:ext cx="316500" cy="180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6" name="Google Shape;526;p37"/>
            <p:cNvSpPr/>
            <p:nvPr/>
          </p:nvSpPr>
          <p:spPr>
            <a:xfrm rot="5400000">
              <a:off x="5742455" y="1645955"/>
              <a:ext cx="114600" cy="111000"/>
            </a:xfrm>
            <a:prstGeom prst="rect">
              <a:avLst/>
            </a:prstGeom>
            <a:solidFill>
              <a:srgbClr val="7B7B7B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7" name="Google Shape;527;p37"/>
            <p:cNvSpPr/>
            <p:nvPr/>
          </p:nvSpPr>
          <p:spPr>
            <a:xfrm rot="5400000">
              <a:off x="5745514" y="1681223"/>
              <a:ext cx="32400" cy="3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8" name="Google Shape;528;p37"/>
            <p:cNvSpPr/>
            <p:nvPr/>
          </p:nvSpPr>
          <p:spPr>
            <a:xfrm rot="10800000">
              <a:off x="5448540" y="1692160"/>
              <a:ext cx="320700" cy="186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9" name="Google Shape;529;p37"/>
            <p:cNvSpPr/>
            <p:nvPr/>
          </p:nvSpPr>
          <p:spPr>
            <a:xfrm rot="5400000">
              <a:off x="5742455" y="1499853"/>
              <a:ext cx="114600" cy="111000"/>
            </a:xfrm>
            <a:prstGeom prst="rect">
              <a:avLst/>
            </a:prstGeom>
            <a:solidFill>
              <a:srgbClr val="7B7B7B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0" name="Google Shape;530;p37"/>
            <p:cNvSpPr/>
            <p:nvPr/>
          </p:nvSpPr>
          <p:spPr>
            <a:xfrm rot="5400000">
              <a:off x="5745514" y="1535121"/>
              <a:ext cx="32400" cy="3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1" name="Google Shape;531;p37"/>
            <p:cNvSpPr/>
            <p:nvPr/>
          </p:nvSpPr>
          <p:spPr>
            <a:xfrm rot="10800000">
              <a:off x="5448540" y="1546058"/>
              <a:ext cx="320700" cy="186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2" name="Google Shape;532;p37"/>
            <p:cNvSpPr/>
            <p:nvPr/>
          </p:nvSpPr>
          <p:spPr>
            <a:xfrm rot="5400000">
              <a:off x="5742455" y="2369078"/>
              <a:ext cx="114600" cy="111000"/>
            </a:xfrm>
            <a:prstGeom prst="rect">
              <a:avLst/>
            </a:prstGeom>
            <a:solidFill>
              <a:srgbClr val="7B7B7B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3" name="Google Shape;533;p37"/>
            <p:cNvSpPr/>
            <p:nvPr/>
          </p:nvSpPr>
          <p:spPr>
            <a:xfrm rot="5400000">
              <a:off x="5745514" y="2404346"/>
              <a:ext cx="32400" cy="3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4" name="Google Shape;534;p37"/>
            <p:cNvSpPr/>
            <p:nvPr/>
          </p:nvSpPr>
          <p:spPr>
            <a:xfrm rot="10800000">
              <a:off x="5448540" y="2415282"/>
              <a:ext cx="320700" cy="186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5" name="Google Shape;535;p37"/>
            <p:cNvSpPr/>
            <p:nvPr/>
          </p:nvSpPr>
          <p:spPr>
            <a:xfrm rot="10800000">
              <a:off x="5099177" y="2065336"/>
              <a:ext cx="211500" cy="198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6" name="Google Shape;536;p37"/>
            <p:cNvSpPr/>
            <p:nvPr/>
          </p:nvSpPr>
          <p:spPr>
            <a:xfrm rot="10800000">
              <a:off x="5099234" y="1982288"/>
              <a:ext cx="249900" cy="183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7" name="Google Shape;537;p37"/>
            <p:cNvSpPr/>
            <p:nvPr/>
          </p:nvSpPr>
          <p:spPr>
            <a:xfrm rot="10800000">
              <a:off x="5101934" y="1935774"/>
              <a:ext cx="247200" cy="171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8" name="Google Shape;538;p37"/>
            <p:cNvSpPr/>
            <p:nvPr/>
          </p:nvSpPr>
          <p:spPr>
            <a:xfrm rot="10800000">
              <a:off x="5101970" y="1885341"/>
              <a:ext cx="197100" cy="210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9" name="Google Shape;539;p37"/>
            <p:cNvSpPr/>
            <p:nvPr/>
          </p:nvSpPr>
          <p:spPr>
            <a:xfrm rot="-6839635">
              <a:off x="5182071" y="2236964"/>
              <a:ext cx="388796" cy="21079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0" name="Google Shape;540;p37"/>
            <p:cNvSpPr/>
            <p:nvPr/>
          </p:nvSpPr>
          <p:spPr>
            <a:xfrm rot="-3897543">
              <a:off x="5178060" y="1716641"/>
              <a:ext cx="388408" cy="21334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1" name="Google Shape;541;p37"/>
            <p:cNvSpPr/>
            <p:nvPr/>
          </p:nvSpPr>
          <p:spPr>
            <a:xfrm rot="-3898532">
              <a:off x="5258795" y="1815790"/>
              <a:ext cx="274465" cy="17181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2" name="Google Shape;542;p37"/>
            <p:cNvSpPr/>
            <p:nvPr/>
          </p:nvSpPr>
          <p:spPr>
            <a:xfrm rot="-3168168">
              <a:off x="5305845" y="1911894"/>
              <a:ext cx="189063" cy="1758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7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3" name="Google Shape;543;p37"/>
            <p:cNvSpPr txBox="1"/>
            <p:nvPr/>
          </p:nvSpPr>
          <p:spPr>
            <a:xfrm rot="5400000">
              <a:off x="5582008" y="2025535"/>
              <a:ext cx="2181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75" lIns="47475" spcFirstLastPara="1" rIns="47475" wrap="square" tIns="4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19">
                  <a:solidFill>
                    <a:schemeClr val="dk1"/>
                  </a:solidFill>
                </a:rPr>
                <a:t>. . . </a:t>
              </a:r>
              <a:endParaRPr sz="415">
                <a:solidFill>
                  <a:schemeClr val="dk1"/>
                </a:solidFill>
              </a:endParaRPr>
            </a:p>
          </p:txBody>
        </p:sp>
        <p:sp>
          <p:nvSpPr>
            <p:cNvPr id="544" name="Google Shape;544;p37"/>
            <p:cNvSpPr txBox="1"/>
            <p:nvPr/>
          </p:nvSpPr>
          <p:spPr>
            <a:xfrm>
              <a:off x="5099175" y="1251438"/>
              <a:ext cx="1140900" cy="36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Element #1~16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45" name="Google Shape;545;p37"/>
            <p:cNvSpPr txBox="1"/>
            <p:nvPr/>
          </p:nvSpPr>
          <p:spPr>
            <a:xfrm>
              <a:off x="3605800" y="2371975"/>
              <a:ext cx="667800" cy="30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증폭기</a:t>
              </a:r>
              <a:endParaRPr sz="700">
                <a:solidFill>
                  <a:schemeClr val="dk1"/>
                </a:solidFill>
              </a:endParaRPr>
            </a:p>
          </p:txBody>
        </p:sp>
        <p:cxnSp>
          <p:nvCxnSpPr>
            <p:cNvPr id="546" name="Google Shape;546;p37"/>
            <p:cNvCxnSpPr>
              <a:stCxn id="522" idx="3"/>
            </p:cNvCxnSpPr>
            <p:nvPr/>
          </p:nvCxnSpPr>
          <p:spPr>
            <a:xfrm flipH="1" rot="10800000">
              <a:off x="4601750" y="1530025"/>
              <a:ext cx="274800" cy="1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37"/>
            <p:cNvCxnSpPr/>
            <p:nvPr/>
          </p:nvCxnSpPr>
          <p:spPr>
            <a:xfrm flipH="1" rot="10800000">
              <a:off x="4609575" y="2521225"/>
              <a:ext cx="270300" cy="1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cxnSp>
          <p:nvCxnSpPr>
            <p:cNvPr id="548" name="Google Shape;548;p37"/>
            <p:cNvCxnSpPr/>
            <p:nvPr/>
          </p:nvCxnSpPr>
          <p:spPr>
            <a:xfrm>
              <a:off x="4872350" y="1534100"/>
              <a:ext cx="900" cy="487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549" name="Google Shape;549;p37"/>
            <p:cNvCxnSpPr/>
            <p:nvPr/>
          </p:nvCxnSpPr>
          <p:spPr>
            <a:xfrm>
              <a:off x="4866050" y="2025775"/>
              <a:ext cx="193200" cy="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Google Shape;550;p37"/>
            <p:cNvCxnSpPr/>
            <p:nvPr/>
          </p:nvCxnSpPr>
          <p:spPr>
            <a:xfrm rot="10800000">
              <a:off x="4273450" y="2523025"/>
              <a:ext cx="190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cxnSp>
          <p:nvCxnSpPr>
            <p:cNvPr id="551" name="Google Shape;551;p37"/>
            <p:cNvCxnSpPr/>
            <p:nvPr/>
          </p:nvCxnSpPr>
          <p:spPr>
            <a:xfrm flipH="1" rot="10800000">
              <a:off x="4447850" y="2401825"/>
              <a:ext cx="130500" cy="10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2" name="Google Shape;552;p37"/>
            <p:cNvSpPr txBox="1"/>
            <p:nvPr/>
          </p:nvSpPr>
          <p:spPr>
            <a:xfrm>
              <a:off x="2339250" y="2371975"/>
              <a:ext cx="667800" cy="30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검파기</a:t>
              </a:r>
              <a:endParaRPr sz="700">
                <a:solidFill>
                  <a:schemeClr val="dk1"/>
                </a:solidFill>
              </a:endParaRPr>
            </a:p>
          </p:txBody>
        </p:sp>
        <p:cxnSp>
          <p:nvCxnSpPr>
            <p:cNvPr id="553" name="Google Shape;553;p37"/>
            <p:cNvCxnSpPr>
              <a:stCxn id="552" idx="3"/>
              <a:endCxn id="545" idx="1"/>
            </p:cNvCxnSpPr>
            <p:nvPr/>
          </p:nvCxnSpPr>
          <p:spPr>
            <a:xfrm>
              <a:off x="3007050" y="2523025"/>
              <a:ext cx="598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554" name="Google Shape;554;p37"/>
            <p:cNvCxnSpPr>
              <a:stCxn id="521" idx="3"/>
              <a:endCxn id="522" idx="1"/>
            </p:cNvCxnSpPr>
            <p:nvPr/>
          </p:nvCxnSpPr>
          <p:spPr>
            <a:xfrm>
              <a:off x="3426300" y="1531525"/>
              <a:ext cx="33990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555" name="Google Shape;555;p37"/>
            <p:cNvCxnSpPr>
              <a:stCxn id="520" idx="3"/>
              <a:endCxn id="521" idx="1"/>
            </p:cNvCxnSpPr>
            <p:nvPr/>
          </p:nvCxnSpPr>
          <p:spPr>
            <a:xfrm>
              <a:off x="2062425" y="1531525"/>
              <a:ext cx="52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556" name="Google Shape;556;p37"/>
            <p:cNvCxnSpPr>
              <a:stCxn id="519" idx="3"/>
              <a:endCxn id="520" idx="1"/>
            </p:cNvCxnSpPr>
            <p:nvPr/>
          </p:nvCxnSpPr>
          <p:spPr>
            <a:xfrm>
              <a:off x="833500" y="1531525"/>
              <a:ext cx="581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pic>
          <p:nvPicPr>
            <p:cNvPr id="557" name="Google Shape;557;p37"/>
            <p:cNvPicPr preferRelativeResize="0"/>
            <p:nvPr/>
          </p:nvPicPr>
          <p:blipFill rotWithShape="1">
            <a:blip r:embed="rId5">
              <a:alphaModFix/>
            </a:blip>
            <a:srcRect b="2293" l="3443" r="1455" t="2159"/>
            <a:stretch/>
          </p:blipFill>
          <p:spPr>
            <a:xfrm>
              <a:off x="1158875" y="2333103"/>
              <a:ext cx="528301" cy="39812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58" name="Google Shape;558;p37"/>
            <p:cNvCxnSpPr>
              <a:stCxn id="520" idx="2"/>
            </p:cNvCxnSpPr>
            <p:nvPr/>
          </p:nvCxnSpPr>
          <p:spPr>
            <a:xfrm flipH="1">
              <a:off x="1737375" y="1682575"/>
              <a:ext cx="1500" cy="83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559" name="Google Shape;559;p37"/>
            <p:cNvCxnSpPr/>
            <p:nvPr/>
          </p:nvCxnSpPr>
          <p:spPr>
            <a:xfrm>
              <a:off x="1738875" y="2523025"/>
              <a:ext cx="598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37"/>
            <p:cNvCxnSpPr/>
            <p:nvPr/>
          </p:nvCxnSpPr>
          <p:spPr>
            <a:xfrm>
              <a:off x="4872350" y="2021600"/>
              <a:ext cx="900" cy="50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37"/>
            <p:cNvCxnSpPr/>
            <p:nvPr/>
          </p:nvCxnSpPr>
          <p:spPr>
            <a:xfrm flipH="1" rot="10800000">
              <a:off x="4679850" y="2520025"/>
              <a:ext cx="196200" cy="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562" name="Google Shape;562;p37"/>
            <p:cNvSpPr txBox="1"/>
            <p:nvPr/>
          </p:nvSpPr>
          <p:spPr>
            <a:xfrm>
              <a:off x="722800" y="1281925"/>
              <a:ext cx="803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USB / +5V</a:t>
              </a:r>
              <a:endParaRPr sz="500">
                <a:solidFill>
                  <a:schemeClr val="dk1"/>
                </a:solidFill>
              </a:endParaRPr>
            </a:p>
          </p:txBody>
        </p:sp>
        <p:sp>
          <p:nvSpPr>
            <p:cNvPr id="563" name="Google Shape;563;p37"/>
            <p:cNvSpPr txBox="1"/>
            <p:nvPr/>
          </p:nvSpPr>
          <p:spPr>
            <a:xfrm>
              <a:off x="1925025" y="1304100"/>
              <a:ext cx="803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타이밍</a:t>
              </a:r>
              <a:endParaRPr sz="500">
                <a:solidFill>
                  <a:schemeClr val="dk1"/>
                </a:solidFill>
              </a:endParaRPr>
            </a:p>
          </p:txBody>
        </p:sp>
        <p:sp>
          <p:nvSpPr>
            <p:cNvPr id="564" name="Google Shape;564;p37"/>
            <p:cNvSpPr txBox="1"/>
            <p:nvPr/>
          </p:nvSpPr>
          <p:spPr>
            <a:xfrm>
              <a:off x="2280138" y="1613125"/>
              <a:ext cx="1456800" cy="4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MD1213으로 ±5V 펄스 출력</a:t>
              </a:r>
              <a:endParaRPr sz="7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TC6320으로 ±48V 펄스 출력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65" name="Google Shape;565;p37"/>
            <p:cNvSpPr txBox="1"/>
            <p:nvPr/>
          </p:nvSpPr>
          <p:spPr>
            <a:xfrm>
              <a:off x="3179250" y="1211438"/>
              <a:ext cx="803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0000"/>
                  </a:solidFill>
                </a:rPr>
                <a:t>펄스</a:t>
              </a:r>
              <a:endParaRPr sz="700">
                <a:solidFill>
                  <a:srgbClr val="FF0000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0000"/>
                  </a:solidFill>
                </a:rPr>
                <a:t>±48V</a:t>
              </a:r>
              <a:endParaRPr sz="500">
                <a:solidFill>
                  <a:srgbClr val="FF0000"/>
                </a:solidFill>
              </a:endParaRPr>
            </a:p>
          </p:txBody>
        </p:sp>
        <p:sp>
          <p:nvSpPr>
            <p:cNvPr id="566" name="Google Shape;566;p37"/>
            <p:cNvSpPr txBox="1"/>
            <p:nvPr/>
          </p:nvSpPr>
          <p:spPr>
            <a:xfrm>
              <a:off x="3534338" y="1606513"/>
              <a:ext cx="14568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MAX14866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67" name="Google Shape;567;p37"/>
            <p:cNvSpPr txBox="1"/>
            <p:nvPr/>
          </p:nvSpPr>
          <p:spPr>
            <a:xfrm>
              <a:off x="3211300" y="2619213"/>
              <a:ext cx="14568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LMH6629 ×2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68" name="Google Shape;568;p37"/>
            <p:cNvSpPr txBox="1"/>
            <p:nvPr/>
          </p:nvSpPr>
          <p:spPr>
            <a:xfrm>
              <a:off x="4598875" y="1498050"/>
              <a:ext cx="803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0000"/>
                  </a:solidFill>
                </a:rPr>
                <a:t>펄스</a:t>
              </a:r>
              <a:endParaRPr sz="700">
                <a:solidFill>
                  <a:srgbClr val="FF0000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0000"/>
                  </a:solidFill>
                </a:rPr>
                <a:t>±48V</a:t>
              </a:r>
              <a:endParaRPr sz="500">
                <a:solidFill>
                  <a:srgbClr val="FF0000"/>
                </a:solidFill>
              </a:endParaRPr>
            </a:p>
          </p:txBody>
        </p:sp>
        <p:sp>
          <p:nvSpPr>
            <p:cNvPr id="569" name="Google Shape;569;p37"/>
            <p:cNvSpPr txBox="1"/>
            <p:nvPr/>
          </p:nvSpPr>
          <p:spPr>
            <a:xfrm>
              <a:off x="4645450" y="2120625"/>
              <a:ext cx="8031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에코</a:t>
              </a:r>
              <a:endParaRPr sz="7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±수 mV</a:t>
              </a:r>
              <a:endParaRPr sz="500">
                <a:solidFill>
                  <a:schemeClr val="dk1"/>
                </a:solidFill>
              </a:endParaRPr>
            </a:p>
          </p:txBody>
        </p:sp>
        <p:sp>
          <p:nvSpPr>
            <p:cNvPr id="570" name="Google Shape;570;p37"/>
            <p:cNvSpPr txBox="1"/>
            <p:nvPr/>
          </p:nvSpPr>
          <p:spPr>
            <a:xfrm>
              <a:off x="3892325" y="2493350"/>
              <a:ext cx="14568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dk1"/>
                  </a:solidFill>
                </a:rPr>
                <a:t>T/R 스위치</a:t>
              </a:r>
              <a:endParaRPr b="1" sz="7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MD0100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71" name="Google Shape;571;p37"/>
            <p:cNvSpPr txBox="1"/>
            <p:nvPr/>
          </p:nvSpPr>
          <p:spPr>
            <a:xfrm>
              <a:off x="2240700" y="2589850"/>
              <a:ext cx="8649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1N5711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72" name="Google Shape;572;p37"/>
            <p:cNvSpPr txBox="1"/>
            <p:nvPr/>
          </p:nvSpPr>
          <p:spPr>
            <a:xfrm>
              <a:off x="1549225" y="2460775"/>
              <a:ext cx="8649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Echo envelope</a:t>
              </a:r>
              <a:endParaRPr sz="700">
                <a:solidFill>
                  <a:schemeClr val="dk1"/>
                </a:solidFill>
              </a:endParaRPr>
            </a:p>
          </p:txBody>
        </p:sp>
        <p:sp>
          <p:nvSpPr>
            <p:cNvPr id="573" name="Google Shape;573;p37"/>
            <p:cNvSpPr txBox="1"/>
            <p:nvPr/>
          </p:nvSpPr>
          <p:spPr>
            <a:xfrm>
              <a:off x="1124375" y="1607850"/>
              <a:ext cx="8649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ADC</a:t>
              </a:r>
              <a:endParaRPr sz="700">
                <a:solidFill>
                  <a:schemeClr val="dk1"/>
                </a:solidFill>
              </a:endParaRPr>
            </a:p>
          </p:txBody>
        </p:sp>
        <p:cxnSp>
          <p:nvCxnSpPr>
            <p:cNvPr id="574" name="Google Shape;574;p37"/>
            <p:cNvCxnSpPr/>
            <p:nvPr/>
          </p:nvCxnSpPr>
          <p:spPr>
            <a:xfrm rot="10800000">
              <a:off x="1920550" y="1678200"/>
              <a:ext cx="2400" cy="37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" name="Google Shape;575;p37"/>
            <p:cNvCxnSpPr/>
            <p:nvPr/>
          </p:nvCxnSpPr>
          <p:spPr>
            <a:xfrm flipH="1" rot="10800000">
              <a:off x="1920550" y="2046000"/>
              <a:ext cx="1984500" cy="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37"/>
            <p:cNvCxnSpPr/>
            <p:nvPr/>
          </p:nvCxnSpPr>
          <p:spPr>
            <a:xfrm flipH="1">
              <a:off x="3908200" y="1684675"/>
              <a:ext cx="3000" cy="36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577" name="Google Shape;577;p37"/>
            <p:cNvSpPr txBox="1"/>
            <p:nvPr/>
          </p:nvSpPr>
          <p:spPr>
            <a:xfrm>
              <a:off x="2272975" y="1974838"/>
              <a:ext cx="1285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타이밍, </a:t>
              </a:r>
              <a:r>
                <a:rPr lang="en" sz="700">
                  <a:solidFill>
                    <a:schemeClr val="dk1"/>
                  </a:solidFill>
                </a:rPr>
                <a:t>소자 선택</a:t>
              </a:r>
              <a:endParaRPr sz="500">
                <a:solidFill>
                  <a:schemeClr val="dk1"/>
                </a:solidFill>
              </a:endParaRPr>
            </a:p>
          </p:txBody>
        </p:sp>
        <p:sp>
          <p:nvSpPr>
            <p:cNvPr id="578" name="Google Shape;578;p37"/>
            <p:cNvSpPr txBox="1"/>
            <p:nvPr/>
          </p:nvSpPr>
          <p:spPr>
            <a:xfrm>
              <a:off x="2904013" y="2482350"/>
              <a:ext cx="8031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± 수</a:t>
              </a:r>
              <a:r>
                <a:rPr lang="en" sz="700">
                  <a:solidFill>
                    <a:schemeClr val="dk1"/>
                  </a:solidFill>
                </a:rPr>
                <a:t>십~수백</a:t>
              </a:r>
              <a:r>
                <a:rPr lang="en" sz="700">
                  <a:solidFill>
                    <a:schemeClr val="dk1"/>
                  </a:solidFill>
                </a:rPr>
                <a:t> mV</a:t>
              </a:r>
              <a:endParaRPr sz="500">
                <a:solidFill>
                  <a:schemeClr val="dk1"/>
                </a:solidFill>
              </a:endParaRPr>
            </a:p>
          </p:txBody>
        </p:sp>
        <p:sp>
          <p:nvSpPr>
            <p:cNvPr id="517" name="Google Shape;517;p37"/>
            <p:cNvSpPr txBox="1"/>
            <p:nvPr/>
          </p:nvSpPr>
          <p:spPr>
            <a:xfrm>
              <a:off x="2039150" y="587150"/>
              <a:ext cx="1366800" cy="30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승압기 및 반전기</a:t>
              </a:r>
              <a:endParaRPr b="1" sz="900">
                <a:solidFill>
                  <a:schemeClr val="dk1"/>
                </a:solidFill>
              </a:endParaRPr>
            </a:p>
          </p:txBody>
        </p:sp>
        <p:sp>
          <p:nvSpPr>
            <p:cNvPr id="579" name="Google Shape;579;p37"/>
            <p:cNvSpPr txBox="1"/>
            <p:nvPr/>
          </p:nvSpPr>
          <p:spPr>
            <a:xfrm>
              <a:off x="1648788" y="826238"/>
              <a:ext cx="1456800" cy="4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B0524S</a:t>
              </a:r>
              <a:r>
                <a:rPr lang="en" sz="700">
                  <a:solidFill>
                    <a:schemeClr val="dk1"/>
                  </a:solidFill>
                </a:rPr>
                <a:t> ×4 로</a:t>
              </a:r>
              <a:r>
                <a:rPr lang="en" sz="700">
                  <a:solidFill>
                    <a:schemeClr val="dk1"/>
                  </a:solidFill>
                </a:rPr>
                <a:t> ±48V </a:t>
              </a:r>
              <a:r>
                <a:rPr lang="en" sz="700">
                  <a:solidFill>
                    <a:schemeClr val="dk1"/>
                  </a:solidFill>
                </a:rPr>
                <a:t>생성</a:t>
              </a:r>
              <a:endParaRPr sz="7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MAX829로 -5V </a:t>
              </a:r>
              <a:r>
                <a:rPr lang="en" sz="700">
                  <a:solidFill>
                    <a:schemeClr val="dk1"/>
                  </a:solidFill>
                </a:rPr>
                <a:t>생성</a:t>
              </a:r>
              <a:endParaRPr sz="700">
                <a:solidFill>
                  <a:schemeClr val="dk1"/>
                </a:solidFill>
              </a:endParaRPr>
            </a:p>
          </p:txBody>
        </p:sp>
        <p:cxnSp>
          <p:nvCxnSpPr>
            <p:cNvPr id="580" name="Google Shape;580;p37"/>
            <p:cNvCxnSpPr/>
            <p:nvPr/>
          </p:nvCxnSpPr>
          <p:spPr>
            <a:xfrm flipH="1" rot="10800000">
              <a:off x="1740075" y="739375"/>
              <a:ext cx="1500" cy="64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37"/>
            <p:cNvCxnSpPr>
              <a:stCxn id="521" idx="0"/>
            </p:cNvCxnSpPr>
            <p:nvPr/>
          </p:nvCxnSpPr>
          <p:spPr>
            <a:xfrm rot="10800000">
              <a:off x="3007350" y="890875"/>
              <a:ext cx="1200" cy="489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582" name="Google Shape;582;p37"/>
            <p:cNvSpPr txBox="1"/>
            <p:nvPr/>
          </p:nvSpPr>
          <p:spPr>
            <a:xfrm>
              <a:off x="2878875" y="922388"/>
              <a:ext cx="803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0000"/>
                  </a:solidFill>
                </a:rPr>
                <a:t>±48V </a:t>
              </a:r>
              <a:r>
                <a:rPr lang="en" sz="700">
                  <a:solidFill>
                    <a:srgbClr val="FF0000"/>
                  </a:solidFill>
                </a:rPr>
                <a:t>레일</a:t>
              </a:r>
              <a:endParaRPr sz="500">
                <a:solidFill>
                  <a:srgbClr val="FF0000"/>
                </a:solidFill>
              </a:endParaRPr>
            </a:p>
          </p:txBody>
        </p:sp>
        <p:sp>
          <p:nvSpPr>
            <p:cNvPr id="583" name="Google Shape;583;p37"/>
            <p:cNvSpPr txBox="1"/>
            <p:nvPr/>
          </p:nvSpPr>
          <p:spPr>
            <a:xfrm>
              <a:off x="1186175" y="931388"/>
              <a:ext cx="803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+5V</a:t>
              </a:r>
              <a:endParaRPr sz="500">
                <a:solidFill>
                  <a:schemeClr val="dk1"/>
                </a:solidFill>
              </a:endParaRPr>
            </a:p>
          </p:txBody>
        </p:sp>
      </p:grpSp>
      <p:sp>
        <p:nvSpPr>
          <p:cNvPr id="584" name="Google Shape;584;p37"/>
          <p:cNvSpPr txBox="1"/>
          <p:nvPr/>
        </p:nvSpPr>
        <p:spPr>
          <a:xfrm>
            <a:off x="611825" y="36235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[Capabilities]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최대 16채널 어레이 구동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</a:t>
            </a:r>
            <a:r>
              <a:rPr lang="en" sz="1000">
                <a:solidFill>
                  <a:schemeClr val="dk1"/>
                </a:solidFill>
              </a:rPr>
              <a:t> •  1~10 MHz 트랜스듀서 호환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A-mode, B-mode, M-mode 지원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수신 에코의 실시간 PC 표시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 •  초기 어레이 SNR 확보를 위한 ±48 V 구동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38"/>
          <p:cNvGrpSpPr/>
          <p:nvPr/>
        </p:nvGrpSpPr>
        <p:grpSpPr>
          <a:xfrm>
            <a:off x="134634" y="-2989"/>
            <a:ext cx="6723471" cy="635759"/>
            <a:chOff x="179512" y="-3986"/>
            <a:chExt cx="8964628" cy="847678"/>
          </a:xfrm>
        </p:grpSpPr>
        <p:sp>
          <p:nvSpPr>
            <p:cNvPr id="591" name="Google Shape;591;p38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3" name="Google Shape;593;p38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4" name="Google Shape;594;p38"/>
          <p:cNvSpPr txBox="1"/>
          <p:nvPr/>
        </p:nvSpPr>
        <p:spPr>
          <a:xfrm>
            <a:off x="2668025" y="679350"/>
            <a:ext cx="5514000" cy="3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Xu 2018: “Backing layer는 보통 PZT 두께의 7~8배 … 초슬림 포맷 위해 생략 → 혈관을 추적하며 이미징이 아니라 A-mode만 측정할 것이기 때문에 링다운이 길어도 괜찮다. 그러나 이미징의 경우 backing layer가 필수” 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현재 상황(2.1 mm disc)에서는 유의미한 링다운 개선을 위해서는 15-17 mm backing layer 추가해야 함. → 고주파로 갈수록 PZT 두께가 감소하므로, backing layer 두께도 감소하고 전체적으로 더 얇은 트랜스듀서 공정이 가능하다. 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그런데 Fig. S5에서는.. “Isotropic bulk PZT가 아니라 </a:t>
            </a:r>
            <a:r>
              <a:rPr lang="en" sz="800">
                <a:solidFill>
                  <a:schemeClr val="accent1"/>
                </a:solidFill>
              </a:rPr>
              <a:t>anisotropic 1-3 composite</a:t>
            </a:r>
            <a:r>
              <a:rPr lang="en" sz="800">
                <a:solidFill>
                  <a:schemeClr val="dk1"/>
                </a:solidFill>
              </a:rPr>
              <a:t>를 썼기 때문에 티슈에 더 나은 acoustic matching을 달성할 수 있었고, 따라서 matching layer가 필요 없었다”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“Ecoflex는 backing도, matching도 아닌 그냥 dielectric layer 겸 하우징 역할”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“Ecoflex는 acoustic damping layer 역할도 하므로 backing layer가 필요하지 않았음”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그런데 Steminc 소자는 isotropic bulk PZT임. 정확히는 SM111 (bulk ceramic grade 이름. Composite의 이름이 아님)으로 이루어진 piezo ceramic disc (monolithic sintered ceramic, single phase), Kt ≥ 39% (composite이었다면 60~70% 정도 됐을 것임)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PZT: 물질 이름. Lead zirconate titanate, Pb(Zr,Ti)O3. 특성: piezoelectric </a:t>
            </a:r>
            <a:r>
              <a:rPr lang="en" sz="800">
                <a:solidFill>
                  <a:schemeClr val="dk1"/>
                </a:solidFill>
              </a:rPr>
              <a:t>ceramic</a:t>
            </a:r>
            <a:r>
              <a:rPr lang="en" sz="800">
                <a:solidFill>
                  <a:schemeClr val="dk1"/>
                </a:solidFill>
              </a:rPr>
              <a:t>.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Piezoelectric </a:t>
            </a:r>
            <a:r>
              <a:rPr lang="en" sz="800">
                <a:solidFill>
                  <a:schemeClr val="dk1"/>
                </a:solidFill>
              </a:rPr>
              <a:t>transducer</a:t>
            </a:r>
            <a:r>
              <a:rPr lang="en" sz="800">
                <a:solidFill>
                  <a:schemeClr val="dk1"/>
                </a:solidFill>
              </a:rPr>
              <a:t>: 소자의 종류. 압전효과를 띠는 소자라면 다 piezoelectric transducer이다. 보통 압전 물질(PZT, PMN-PT, PVDF, composite 등)+전극+backing+하우징+케이블로 패키징되어 있다. (우리 steminc 소자는 piezoelectric transducer이라고 소개되어 있지만 사실 압전물질 양쪽에 전극만 발려 있는 형태.)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1-3: 기하학적 방향?을 나타내는 방식임. Newnham connectivity notation.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595" name="Google Shape;5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00" y="585500"/>
            <a:ext cx="3137174" cy="43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8027" y="3531975"/>
            <a:ext cx="3862274" cy="121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" name="Google Shape;602;p39"/>
          <p:cNvGrpSpPr/>
          <p:nvPr/>
        </p:nvGrpSpPr>
        <p:grpSpPr>
          <a:xfrm>
            <a:off x="134634" y="-2989"/>
            <a:ext cx="6723471" cy="635759"/>
            <a:chOff x="179512" y="-3986"/>
            <a:chExt cx="8964628" cy="847678"/>
          </a:xfrm>
        </p:grpSpPr>
        <p:sp>
          <p:nvSpPr>
            <p:cNvPr id="603" name="Google Shape;603;p39"/>
            <p:cNvSpPr txBox="1"/>
            <p:nvPr/>
          </p:nvSpPr>
          <p:spPr>
            <a:xfrm>
              <a:off x="381740" y="0"/>
              <a:ext cx="8762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5EAD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rgbClr val="0E5EAD"/>
                  </a:solidFill>
                  <a:latin typeface="Arial"/>
                  <a:ea typeface="Arial"/>
                  <a:cs typeface="Arial"/>
                  <a:sym typeface="Arial"/>
                </a:rPr>
                <a:t>Wearable Ultrasound</a:t>
              </a:r>
              <a:endParaRPr sz="2100">
                <a:solidFill>
                  <a:srgbClr val="0E5EA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179512" y="-3986"/>
              <a:ext cx="202200" cy="847500"/>
            </a:xfrm>
            <a:prstGeom prst="rect">
              <a:avLst/>
            </a:prstGeom>
            <a:solidFill>
              <a:srgbClr val="FDB72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E7351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5" name="Google Shape;605;p39"/>
            <p:cNvSpPr txBox="1"/>
            <p:nvPr/>
          </p:nvSpPr>
          <p:spPr>
            <a:xfrm>
              <a:off x="381739" y="542192"/>
              <a:ext cx="58173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